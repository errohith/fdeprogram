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The objective is to show how existing clinical and utilization data can become the foundation for Revenue and Cost Operations. The dataset is not a complete financial system. The key message is that we can see important utilization and readmission signals, but we need financial, claims and cost data to connect those signals to actual revenue, cost and margin.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three layers: utilization foundation, operational levers, and missing financial layer. Do not present revenue or savings figures from this dataset as actual financial results. Position them as opportunity areas that become quantifiable after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clinically oriented encounter data. The opportunity is to connect it with billing, claims, finance and operational systems. An encounter-level key should be the backbone of the integrated model.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Revenue Operations is not simply increasing charges. The value comes from understanding payer economics, preventing leakage, and identifying services and service lines that create sustainable contribution margin. Current data helps identify utilization; financial and claims data attach monetary value.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 Operations is about avoidable resource consumption. High lab or medication counts are not automatically waste; variation should be identified and clinically validated. Readmissions and high-utilizer management connect outcomes to repeated resource consumption.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Clarify that approximately 46% means encounters classified as readmitted either within or after 30 days, not a conventional 30-day readmission rate. These are descriptive signals, not benchmarks or targets. Missing payer and specialty values show why data quality improvement is part of the transformation.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transformation slide. We need three additional domains: revenue/claims, direct and allocated costs, and workflow timestamps. The encounter ID should connect these domains wherever possible.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target is a closed loop: encounter → clinical service → revenue and cost → analytics → intervention → measured result. Every improvement should have an owner, baseline, target and outcome measure.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executive dashboard decision-oriented. Five questions cover revenue growth, cash collection, cost control, care outcomes and margin. Detailed operational dashboards can sit beneath this view.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an action plan. Start with data mapping and a common encounter-level model, baseline key metrics, select a small number of high-value opportunities, and run controlled pilots. Success means measurable improvement in financial performance and patient/clinical outcomes.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234440"/>
            <a:ext cx="10789920" cy="1097280"/>
          </a:xfrm>
          <a:prstGeom prst="rect">
            <a:avLst/>
          </a:prstGeom>
          <a:noFill/>
        </p:spPr>
        <p:txBody>
          <a:bodyPr wrap="none">
            <a:spAutoFit/>
          </a:bodyPr>
          <a:lstStyle/>
          <a:p>
            <a:pPr>
              <a:defRPr sz="3800" b="1">
                <a:solidFill>
                  <a:srgbClr val="FFFFFF"/>
                </a:solidFill>
              </a:defRPr>
            </a:pPr>
            <a:r>
              <a:t>Hospital Revenue &amp; Cost Operations</a:t>
            </a:r>
          </a:p>
        </p:txBody>
      </p:sp>
      <p:sp>
        <p:nvSpPr>
          <p:cNvPr id="4" name="TextBox 3"/>
          <p:cNvSpPr txBox="1"/>
          <p:nvPr/>
        </p:nvSpPr>
        <p:spPr>
          <a:xfrm>
            <a:off x="822960" y="2468880"/>
            <a:ext cx="10058400" cy="822960"/>
          </a:xfrm>
          <a:prstGeom prst="rect">
            <a:avLst/>
          </a:prstGeom>
          <a:noFill/>
        </p:spPr>
        <p:txBody>
          <a:bodyPr wrap="none">
            <a:spAutoFit/>
          </a:bodyPr>
          <a:lstStyle/>
          <a:p>
            <a:pPr>
              <a:defRPr sz="2300">
                <a:solidFill>
                  <a:srgbClr val="D2E1F2"/>
                </a:solidFill>
              </a:defRPr>
            </a:pPr>
            <a:r>
              <a:t>From clinical utilization data to measurable financial performance</a:t>
            </a:r>
          </a:p>
        </p:txBody>
      </p:sp>
      <p:sp>
        <p:nvSpPr>
          <p:cNvPr id="5" name="TextBox 4"/>
          <p:cNvSpPr txBox="1"/>
          <p:nvPr/>
        </p:nvSpPr>
        <p:spPr>
          <a:xfrm>
            <a:off x="822960" y="5120640"/>
            <a:ext cx="10058400" cy="457200"/>
          </a:xfrm>
          <a:prstGeom prst="rect">
            <a:avLst/>
          </a:prstGeom>
          <a:noFill/>
        </p:spPr>
        <p:txBody>
          <a:bodyPr wrap="none">
            <a:spAutoFit/>
          </a:bodyPr>
          <a:lstStyle/>
          <a:p>
            <a:pPr>
              <a:defRPr sz="1400">
                <a:solidFill>
                  <a:srgbClr val="BECDDC"/>
                </a:solidFill>
              </a:defRPr>
            </a:pPr>
            <a:r>
              <a:t>Executive discussion based on the provided diabetic encounter dataset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pPr>
              <a:defRPr sz="2800" b="1">
                <a:solidFill>
                  <a:srgbClr val="162A4A"/>
                </a:solidFill>
              </a:defRPr>
            </a:pPr>
            <a:r>
              <a:t>Executive message</a:t>
            </a:r>
          </a:p>
        </p:txBody>
      </p:sp>
      <p:sp>
        <p:nvSpPr>
          <p:cNvPr id="4" name="TextBox 3"/>
          <p:cNvSpPr txBox="1"/>
          <p:nvPr/>
        </p:nvSpPr>
        <p:spPr>
          <a:xfrm>
            <a:off x="621792" y="932688"/>
            <a:ext cx="10789920" cy="365760"/>
          </a:xfrm>
          <a:prstGeom prst="rect">
            <a:avLst/>
          </a:prstGeom>
          <a:noFill/>
        </p:spPr>
        <p:txBody>
          <a:bodyPr wrap="none">
            <a:spAutoFit/>
          </a:bodyPr>
          <a:lstStyle/>
          <a:p>
            <a:pPr>
              <a:defRPr sz="1300">
                <a:solidFill>
                  <a:srgbClr val="646E78"/>
                </a:solidFill>
              </a:defRPr>
            </a:pPr>
            <a:r>
              <a:t>What the current data tells us — and what it does not</a:t>
            </a:r>
          </a:p>
        </p:txBody>
      </p:sp>
      <p:sp>
        <p:nvSpPr>
          <p:cNvPr id="5" name="Rounded Rectangle 4"/>
          <p:cNvSpPr/>
          <p:nvPr/>
        </p:nvSpPr>
        <p:spPr>
          <a:xfrm>
            <a:off x="685800" y="1417320"/>
            <a:ext cx="3429000" cy="196596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417320"/>
            <a:ext cx="64008" cy="1965960"/>
          </a:xfrm>
          <a:prstGeom prst="rect">
            <a:avLst/>
          </a:prstGeom>
          <a:solidFill>
            <a:srgbClr val="1C84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54480"/>
            <a:ext cx="3154680" cy="384048"/>
          </a:xfrm>
          <a:prstGeom prst="rect">
            <a:avLst/>
          </a:prstGeom>
          <a:noFill/>
        </p:spPr>
        <p:txBody>
          <a:bodyPr wrap="none">
            <a:spAutoFit/>
          </a:bodyPr>
          <a:lstStyle/>
          <a:p>
            <a:pPr>
              <a:defRPr sz="1600" b="1">
                <a:solidFill>
                  <a:srgbClr val="162A4A"/>
                </a:solidFill>
              </a:defRPr>
            </a:pPr>
            <a:r>
              <a:t>What we have</a:t>
            </a:r>
          </a:p>
        </p:txBody>
      </p:sp>
      <p:sp>
        <p:nvSpPr>
          <p:cNvPr id="8" name="TextBox 7"/>
          <p:cNvSpPr txBox="1"/>
          <p:nvPr/>
        </p:nvSpPr>
        <p:spPr>
          <a:xfrm>
            <a:off x="868680" y="2029968"/>
            <a:ext cx="3154680" cy="1252728"/>
          </a:xfrm>
          <a:prstGeom prst="rect">
            <a:avLst/>
          </a:prstGeom>
          <a:noFill/>
        </p:spPr>
        <p:txBody>
          <a:bodyPr wrap="none">
            <a:spAutoFit/>
          </a:bodyPr>
          <a:lstStyle/>
          <a:p>
            <a:pPr>
              <a:defRPr sz="1250">
                <a:solidFill>
                  <a:srgbClr val="2A313A"/>
                </a:solidFill>
              </a:defRPr>
            </a:pPr>
            <a:r>
              <a:t>101,766 encounters</a:t>
            </a:r>
            <a:br/>
            <a:r>
              <a:t>50 data fields</a:t>
            </a:r>
            <a:br/>
            <a:r>
              <a:t>Strong clinical &amp; utilization signals</a:t>
            </a:r>
          </a:p>
        </p:txBody>
      </p:sp>
      <p:sp>
        <p:nvSpPr>
          <p:cNvPr id="9" name="Rounded Rectangle 8"/>
          <p:cNvSpPr/>
          <p:nvPr/>
        </p:nvSpPr>
        <p:spPr>
          <a:xfrm>
            <a:off x="4389120" y="1417320"/>
            <a:ext cx="3429000" cy="196596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417320"/>
            <a:ext cx="64008" cy="1965960"/>
          </a:xfrm>
          <a:prstGeom prst="rect">
            <a:avLst/>
          </a:prstGeom>
          <a:solidFill>
            <a:srgbClr val="2C5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554480"/>
            <a:ext cx="3154680" cy="384048"/>
          </a:xfrm>
          <a:prstGeom prst="rect">
            <a:avLst/>
          </a:prstGeom>
          <a:noFill/>
        </p:spPr>
        <p:txBody>
          <a:bodyPr wrap="none">
            <a:spAutoFit/>
          </a:bodyPr>
          <a:lstStyle/>
          <a:p>
            <a:pPr>
              <a:defRPr sz="1600" b="1">
                <a:solidFill>
                  <a:srgbClr val="162A4A"/>
                </a:solidFill>
              </a:defRPr>
            </a:pPr>
            <a:r>
              <a:t>What we can optimize</a:t>
            </a:r>
          </a:p>
        </p:txBody>
      </p:sp>
      <p:sp>
        <p:nvSpPr>
          <p:cNvPr id="12" name="TextBox 11"/>
          <p:cNvSpPr txBox="1"/>
          <p:nvPr/>
        </p:nvSpPr>
        <p:spPr>
          <a:xfrm>
            <a:off x="4572000" y="2029968"/>
            <a:ext cx="3154680" cy="1252728"/>
          </a:xfrm>
          <a:prstGeom prst="rect">
            <a:avLst/>
          </a:prstGeom>
          <a:noFill/>
        </p:spPr>
        <p:txBody>
          <a:bodyPr wrap="none">
            <a:spAutoFit/>
          </a:bodyPr>
          <a:lstStyle/>
          <a:p>
            <a:pPr>
              <a:defRPr sz="1250">
                <a:solidFill>
                  <a:srgbClr val="2A313A"/>
                </a:solidFill>
              </a:defRPr>
            </a:pPr>
            <a:r>
              <a:t>LOS</a:t>
            </a:r>
            <a:br/>
            <a:r>
              <a:t>Readmissions</a:t>
            </a:r>
            <a:br/>
            <a:r>
              <a:t>High utilizers</a:t>
            </a:r>
            <a:br/>
            <a:r>
              <a:t>Lab &amp; medication utilization</a:t>
            </a:r>
          </a:p>
        </p:txBody>
      </p:sp>
      <p:sp>
        <p:nvSpPr>
          <p:cNvPr id="13" name="Rounded Rectangle 12"/>
          <p:cNvSpPr/>
          <p:nvPr/>
        </p:nvSpPr>
        <p:spPr>
          <a:xfrm>
            <a:off x="8092440" y="1417320"/>
            <a:ext cx="3429000" cy="196596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2440" y="1417320"/>
            <a:ext cx="64008" cy="1965960"/>
          </a:xfrm>
          <a:prstGeom prst="rect">
            <a:avLst/>
          </a:prstGeom>
          <a:solidFill>
            <a:srgbClr val="B8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19" y="1554480"/>
            <a:ext cx="3154680" cy="384048"/>
          </a:xfrm>
          <a:prstGeom prst="rect">
            <a:avLst/>
          </a:prstGeom>
          <a:noFill/>
        </p:spPr>
        <p:txBody>
          <a:bodyPr wrap="none">
            <a:spAutoFit/>
          </a:bodyPr>
          <a:lstStyle/>
          <a:p>
            <a:pPr>
              <a:defRPr sz="1600" b="1">
                <a:solidFill>
                  <a:srgbClr val="162A4A"/>
                </a:solidFill>
              </a:defRPr>
            </a:pPr>
            <a:r>
              <a:t>What is missing</a:t>
            </a:r>
          </a:p>
        </p:txBody>
      </p:sp>
      <p:sp>
        <p:nvSpPr>
          <p:cNvPr id="16" name="TextBox 15"/>
          <p:cNvSpPr txBox="1"/>
          <p:nvPr/>
        </p:nvSpPr>
        <p:spPr>
          <a:xfrm>
            <a:off x="8275319" y="2029968"/>
            <a:ext cx="3154680" cy="1252728"/>
          </a:xfrm>
          <a:prstGeom prst="rect">
            <a:avLst/>
          </a:prstGeom>
          <a:noFill/>
        </p:spPr>
        <p:txBody>
          <a:bodyPr wrap="none">
            <a:spAutoFit/>
          </a:bodyPr>
          <a:lstStyle/>
          <a:p>
            <a:pPr>
              <a:defRPr sz="1250">
                <a:solidFill>
                  <a:srgbClr val="2A313A"/>
                </a:solidFill>
              </a:defRPr>
            </a:pPr>
            <a:r>
              <a:t>Charges</a:t>
            </a:r>
            <a:br/>
            <a:r>
              <a:t>Payments</a:t>
            </a:r>
            <a:br/>
            <a:r>
              <a:t>Claims</a:t>
            </a:r>
            <a:br/>
            <a:r>
              <a:t>Denials</a:t>
            </a:r>
            <a:br/>
            <a:r>
              <a:t>Direct &amp; operating costs</a:t>
            </a:r>
          </a:p>
        </p:txBody>
      </p:sp>
      <p:sp>
        <p:nvSpPr>
          <p:cNvPr id="17" name="TextBox 16"/>
          <p:cNvSpPr txBox="1"/>
          <p:nvPr/>
        </p:nvSpPr>
        <p:spPr>
          <a:xfrm>
            <a:off x="731520" y="3794760"/>
            <a:ext cx="10698480" cy="2011680"/>
          </a:xfrm>
          <a:prstGeom prst="rect">
            <a:avLst/>
          </a:prstGeom>
          <a:noFill/>
        </p:spPr>
        <p:txBody>
          <a:bodyPr wrap="square">
            <a:spAutoFit/>
          </a:bodyPr>
          <a:lstStyle/>
          <a:p>
            <a:pPr>
              <a:spcAft>
                <a:spcPts val="1200"/>
              </a:spcAft>
              <a:defRPr sz="1700">
                <a:solidFill>
                  <a:srgbClr val="2A313A"/>
                </a:solidFill>
              </a:defRPr>
            </a:pPr>
            <a:r>
              <a:t>The dataset is strong for operational and clinical utilization analysis.</a:t>
            </a:r>
          </a:p>
          <a:p>
            <a:pPr>
              <a:spcAft>
                <a:spcPts val="1200"/>
              </a:spcAft>
              <a:defRPr sz="1700">
                <a:solidFill>
                  <a:srgbClr val="2A313A"/>
                </a:solidFill>
              </a:defRPr>
            </a:pPr>
            <a:r>
              <a:t>It is not sufficient to calculate hospital revenue, profitability or ROI.</a:t>
            </a:r>
          </a:p>
          <a:p>
            <a:pPr>
              <a:spcAft>
                <a:spcPts val="1200"/>
              </a:spcAft>
              <a:defRPr sz="1700">
                <a:solidFill>
                  <a:srgbClr val="2A313A"/>
                </a:solidFill>
              </a:defRPr>
            </a:pPr>
            <a:r>
              <a:t>Next step: integrate financial + claims + operational cost data at encounter level.</a:t>
            </a:r>
          </a:p>
        </p:txBody>
      </p:sp>
      <p:sp>
        <p:nvSpPr>
          <p:cNvPr id="18" name="TextBox 17"/>
          <p:cNvSpPr txBox="1"/>
          <p:nvPr/>
        </p:nvSpPr>
        <p:spPr>
          <a:xfrm>
            <a:off x="594360" y="6473952"/>
            <a:ext cx="10972800" cy="182880"/>
          </a:xfrm>
          <a:prstGeom prst="rect">
            <a:avLst/>
          </a:prstGeom>
          <a:noFill/>
        </p:spPr>
        <p:txBody>
          <a:bodyPr wrap="none">
            <a:spAutoFit/>
          </a:bodyPr>
          <a:lstStyle/>
          <a:p>
            <a:pPr>
              <a:defRPr sz="800">
                <a:solidFill>
                  <a:srgbClr val="646E78"/>
                </a:solidFill>
              </a:defRPr>
            </a:pPr>
            <a:r>
              <a:t>Hospital Revenue &amp; Cost Operations | Executive Discussion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pPr>
              <a:defRPr sz="2800" b="1">
                <a:solidFill>
                  <a:srgbClr val="162A4A"/>
                </a:solidFill>
              </a:defRPr>
            </a:pPr>
            <a:r>
              <a:t>Current data landscape</a:t>
            </a:r>
          </a:p>
        </p:txBody>
      </p:sp>
      <p:sp>
        <p:nvSpPr>
          <p:cNvPr id="4" name="TextBox 3"/>
          <p:cNvSpPr txBox="1"/>
          <p:nvPr/>
        </p:nvSpPr>
        <p:spPr>
          <a:xfrm>
            <a:off x="621792" y="932688"/>
            <a:ext cx="10789920" cy="365760"/>
          </a:xfrm>
          <a:prstGeom prst="rect">
            <a:avLst/>
          </a:prstGeom>
          <a:noFill/>
        </p:spPr>
        <p:txBody>
          <a:bodyPr wrap="none">
            <a:spAutoFit/>
          </a:bodyPr>
          <a:lstStyle/>
          <a:p>
            <a:pPr>
              <a:defRPr sz="1300">
                <a:solidFill>
                  <a:srgbClr val="646E78"/>
                </a:solidFill>
              </a:defRPr>
            </a:pPr>
            <a:r>
              <a:t>A strong utilization foundation with important gaps</a:t>
            </a:r>
          </a:p>
        </p:txBody>
      </p:sp>
      <p:sp>
        <p:nvSpPr>
          <p:cNvPr id="5" name="Rounded Rectangle 4"/>
          <p:cNvSpPr/>
          <p:nvPr/>
        </p:nvSpPr>
        <p:spPr>
          <a:xfrm>
            <a:off x="594360" y="1325880"/>
            <a:ext cx="3429000" cy="173736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325880"/>
            <a:ext cx="64008" cy="1737360"/>
          </a:xfrm>
          <a:prstGeom prst="rect">
            <a:avLst/>
          </a:prstGeom>
          <a:solidFill>
            <a:srgbClr val="1C84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63039"/>
            <a:ext cx="3154680" cy="384048"/>
          </a:xfrm>
          <a:prstGeom prst="rect">
            <a:avLst/>
          </a:prstGeom>
          <a:noFill/>
        </p:spPr>
        <p:txBody>
          <a:bodyPr wrap="none">
            <a:spAutoFit/>
          </a:bodyPr>
          <a:lstStyle/>
          <a:p>
            <a:pPr>
              <a:defRPr sz="1600" b="1">
                <a:solidFill>
                  <a:srgbClr val="162A4A"/>
                </a:solidFill>
              </a:defRPr>
            </a:pPr>
            <a:r>
              <a:t>Patient &amp; clinical</a:t>
            </a:r>
          </a:p>
        </p:txBody>
      </p:sp>
      <p:sp>
        <p:nvSpPr>
          <p:cNvPr id="8" name="TextBox 7"/>
          <p:cNvSpPr txBox="1"/>
          <p:nvPr/>
        </p:nvSpPr>
        <p:spPr>
          <a:xfrm>
            <a:off x="777240" y="1938528"/>
            <a:ext cx="3154680" cy="1024127"/>
          </a:xfrm>
          <a:prstGeom prst="rect">
            <a:avLst/>
          </a:prstGeom>
          <a:noFill/>
        </p:spPr>
        <p:txBody>
          <a:bodyPr wrap="none">
            <a:spAutoFit/>
          </a:bodyPr>
          <a:lstStyle/>
          <a:p>
            <a:pPr>
              <a:defRPr sz="1250">
                <a:solidFill>
                  <a:srgbClr val="2A313A"/>
                </a:solidFill>
              </a:defRPr>
            </a:pPr>
            <a:r>
              <a:t>Age, gender, diagnoses, medications, insulin, A1C/glucose</a:t>
            </a:r>
          </a:p>
        </p:txBody>
      </p:sp>
      <p:sp>
        <p:nvSpPr>
          <p:cNvPr id="9" name="Rounded Rectangle 8"/>
          <p:cNvSpPr/>
          <p:nvPr/>
        </p:nvSpPr>
        <p:spPr>
          <a:xfrm>
            <a:off x="4389120" y="1325880"/>
            <a:ext cx="3429000" cy="173736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325880"/>
            <a:ext cx="64008" cy="1737360"/>
          </a:xfrm>
          <a:prstGeom prst="rect">
            <a:avLst/>
          </a:prstGeom>
          <a:solidFill>
            <a:srgbClr val="2C5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463039"/>
            <a:ext cx="3154680" cy="384048"/>
          </a:xfrm>
          <a:prstGeom prst="rect">
            <a:avLst/>
          </a:prstGeom>
          <a:noFill/>
        </p:spPr>
        <p:txBody>
          <a:bodyPr wrap="none">
            <a:spAutoFit/>
          </a:bodyPr>
          <a:lstStyle/>
          <a:p>
            <a:pPr>
              <a:defRPr sz="1600" b="1">
                <a:solidFill>
                  <a:srgbClr val="162A4A"/>
                </a:solidFill>
              </a:defRPr>
            </a:pPr>
            <a:r>
              <a:t>Utilization</a:t>
            </a:r>
          </a:p>
        </p:txBody>
      </p:sp>
      <p:sp>
        <p:nvSpPr>
          <p:cNvPr id="12" name="TextBox 11"/>
          <p:cNvSpPr txBox="1"/>
          <p:nvPr/>
        </p:nvSpPr>
        <p:spPr>
          <a:xfrm>
            <a:off x="4572000" y="1938528"/>
            <a:ext cx="3154680" cy="1024127"/>
          </a:xfrm>
          <a:prstGeom prst="rect">
            <a:avLst/>
          </a:prstGeom>
          <a:noFill/>
        </p:spPr>
        <p:txBody>
          <a:bodyPr wrap="none">
            <a:spAutoFit/>
          </a:bodyPr>
          <a:lstStyle/>
          <a:p>
            <a:pPr>
              <a:defRPr sz="1250">
                <a:solidFill>
                  <a:srgbClr val="2A313A"/>
                </a:solidFill>
              </a:defRPr>
            </a:pPr>
            <a:r>
              <a:t>LOS, labs, procedures, medications, outpatient, emergency, inpatient</a:t>
            </a:r>
          </a:p>
        </p:txBody>
      </p:sp>
      <p:sp>
        <p:nvSpPr>
          <p:cNvPr id="13" name="Rounded Rectangle 12"/>
          <p:cNvSpPr/>
          <p:nvPr/>
        </p:nvSpPr>
        <p:spPr>
          <a:xfrm>
            <a:off x="8183880" y="1325880"/>
            <a:ext cx="3429000" cy="173736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83880" y="1325880"/>
            <a:ext cx="64008" cy="1737360"/>
          </a:xfrm>
          <a:prstGeom prst="rect">
            <a:avLst/>
          </a:prstGeom>
          <a:solidFill>
            <a:srgbClr val="D67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6760" y="1463039"/>
            <a:ext cx="3154680" cy="384048"/>
          </a:xfrm>
          <a:prstGeom prst="rect">
            <a:avLst/>
          </a:prstGeom>
          <a:noFill/>
        </p:spPr>
        <p:txBody>
          <a:bodyPr wrap="none">
            <a:spAutoFit/>
          </a:bodyPr>
          <a:lstStyle/>
          <a:p>
            <a:pPr>
              <a:defRPr sz="1600" b="1">
                <a:solidFill>
                  <a:srgbClr val="162A4A"/>
                </a:solidFill>
              </a:defRPr>
            </a:pPr>
            <a:r>
              <a:t>Access &amp; flow</a:t>
            </a:r>
          </a:p>
        </p:txBody>
      </p:sp>
      <p:sp>
        <p:nvSpPr>
          <p:cNvPr id="16" name="TextBox 15"/>
          <p:cNvSpPr txBox="1"/>
          <p:nvPr/>
        </p:nvSpPr>
        <p:spPr>
          <a:xfrm>
            <a:off x="8366760" y="1938528"/>
            <a:ext cx="3154680" cy="1024127"/>
          </a:xfrm>
          <a:prstGeom prst="rect">
            <a:avLst/>
          </a:prstGeom>
          <a:noFill/>
        </p:spPr>
        <p:txBody>
          <a:bodyPr wrap="none">
            <a:spAutoFit/>
          </a:bodyPr>
          <a:lstStyle/>
          <a:p>
            <a:pPr>
              <a:defRPr sz="1250">
                <a:solidFill>
                  <a:srgbClr val="2A313A"/>
                </a:solidFill>
              </a:defRPr>
            </a:pPr>
            <a:r>
              <a:t>Admission type/source, discharge disposition</a:t>
            </a:r>
          </a:p>
        </p:txBody>
      </p:sp>
      <p:sp>
        <p:nvSpPr>
          <p:cNvPr id="17" name="Rounded Rectangle 16"/>
          <p:cNvSpPr/>
          <p:nvPr/>
        </p:nvSpPr>
        <p:spPr>
          <a:xfrm>
            <a:off x="594360" y="3474720"/>
            <a:ext cx="3429000" cy="173736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4360" y="3474720"/>
            <a:ext cx="64008" cy="1737360"/>
          </a:xfrm>
          <a:prstGeom prst="rect">
            <a:avLst/>
          </a:prstGeom>
          <a:solidFill>
            <a:srgbClr val="2E7D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611879"/>
            <a:ext cx="3154680" cy="384048"/>
          </a:xfrm>
          <a:prstGeom prst="rect">
            <a:avLst/>
          </a:prstGeom>
          <a:noFill/>
        </p:spPr>
        <p:txBody>
          <a:bodyPr wrap="none">
            <a:spAutoFit/>
          </a:bodyPr>
          <a:lstStyle/>
          <a:p>
            <a:pPr>
              <a:defRPr sz="1600" b="1">
                <a:solidFill>
                  <a:srgbClr val="162A4A"/>
                </a:solidFill>
              </a:defRPr>
            </a:pPr>
            <a:r>
              <a:t>Payer &amp; specialty</a:t>
            </a:r>
          </a:p>
        </p:txBody>
      </p:sp>
      <p:sp>
        <p:nvSpPr>
          <p:cNvPr id="20" name="TextBox 19"/>
          <p:cNvSpPr txBox="1"/>
          <p:nvPr/>
        </p:nvSpPr>
        <p:spPr>
          <a:xfrm>
            <a:off x="777240" y="4087368"/>
            <a:ext cx="3154680" cy="1024127"/>
          </a:xfrm>
          <a:prstGeom prst="rect">
            <a:avLst/>
          </a:prstGeom>
          <a:noFill/>
        </p:spPr>
        <p:txBody>
          <a:bodyPr wrap="none">
            <a:spAutoFit/>
          </a:bodyPr>
          <a:lstStyle/>
          <a:p>
            <a:pPr>
              <a:defRPr sz="1250">
                <a:solidFill>
                  <a:srgbClr val="2A313A"/>
                </a:solidFill>
              </a:defRPr>
            </a:pPr>
            <a:r>
              <a:t>Payer and specialty fields, with significant missingness</a:t>
            </a:r>
          </a:p>
        </p:txBody>
      </p:sp>
      <p:sp>
        <p:nvSpPr>
          <p:cNvPr id="21" name="Rounded Rectangle 20"/>
          <p:cNvSpPr/>
          <p:nvPr/>
        </p:nvSpPr>
        <p:spPr>
          <a:xfrm>
            <a:off x="4389120" y="3474720"/>
            <a:ext cx="3429000" cy="173736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89120" y="3474720"/>
            <a:ext cx="64008" cy="1737360"/>
          </a:xfrm>
          <a:prstGeom prst="rect">
            <a:avLst/>
          </a:prstGeom>
          <a:solidFill>
            <a:srgbClr val="B8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0" y="3611879"/>
            <a:ext cx="3154680" cy="384048"/>
          </a:xfrm>
          <a:prstGeom prst="rect">
            <a:avLst/>
          </a:prstGeom>
          <a:noFill/>
        </p:spPr>
        <p:txBody>
          <a:bodyPr wrap="none">
            <a:spAutoFit/>
          </a:bodyPr>
          <a:lstStyle/>
          <a:p>
            <a:pPr>
              <a:defRPr sz="1600" b="1">
                <a:solidFill>
                  <a:srgbClr val="162A4A"/>
                </a:solidFill>
              </a:defRPr>
            </a:pPr>
            <a:r>
              <a:t>Outcome</a:t>
            </a:r>
          </a:p>
        </p:txBody>
      </p:sp>
      <p:sp>
        <p:nvSpPr>
          <p:cNvPr id="24" name="TextBox 23"/>
          <p:cNvSpPr txBox="1"/>
          <p:nvPr/>
        </p:nvSpPr>
        <p:spPr>
          <a:xfrm>
            <a:off x="4572000" y="4087368"/>
            <a:ext cx="3154680" cy="1024127"/>
          </a:xfrm>
          <a:prstGeom prst="rect">
            <a:avLst/>
          </a:prstGeom>
          <a:noFill/>
        </p:spPr>
        <p:txBody>
          <a:bodyPr wrap="none">
            <a:spAutoFit/>
          </a:bodyPr>
          <a:lstStyle/>
          <a:p>
            <a:pPr>
              <a:defRPr sz="1250">
                <a:solidFill>
                  <a:srgbClr val="2A313A"/>
                </a:solidFill>
              </a:defRPr>
            </a:pPr>
            <a:r>
              <a:t>Readmission outcome: &lt;30 days, &gt;30 days, no readmission</a:t>
            </a:r>
          </a:p>
        </p:txBody>
      </p:sp>
      <p:sp>
        <p:nvSpPr>
          <p:cNvPr id="25" name="Rounded Rectangle 24"/>
          <p:cNvSpPr/>
          <p:nvPr/>
        </p:nvSpPr>
        <p:spPr>
          <a:xfrm>
            <a:off x="8183880" y="3474720"/>
            <a:ext cx="3429000" cy="173736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83880" y="3474720"/>
            <a:ext cx="64008" cy="1737360"/>
          </a:xfrm>
          <a:prstGeom prst="rect">
            <a:avLst/>
          </a:prstGeom>
          <a:solidFill>
            <a:srgbClr val="B8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66760" y="3611879"/>
            <a:ext cx="3154680" cy="384048"/>
          </a:xfrm>
          <a:prstGeom prst="rect">
            <a:avLst/>
          </a:prstGeom>
          <a:noFill/>
        </p:spPr>
        <p:txBody>
          <a:bodyPr wrap="none">
            <a:spAutoFit/>
          </a:bodyPr>
          <a:lstStyle/>
          <a:p>
            <a:pPr>
              <a:defRPr sz="1600" b="1">
                <a:solidFill>
                  <a:srgbClr val="162A4A"/>
                </a:solidFill>
              </a:defRPr>
            </a:pPr>
            <a:r>
              <a:t>Gap</a:t>
            </a:r>
          </a:p>
        </p:txBody>
      </p:sp>
      <p:sp>
        <p:nvSpPr>
          <p:cNvPr id="28" name="TextBox 27"/>
          <p:cNvSpPr txBox="1"/>
          <p:nvPr/>
        </p:nvSpPr>
        <p:spPr>
          <a:xfrm>
            <a:off x="8366760" y="4087368"/>
            <a:ext cx="3154680" cy="1024127"/>
          </a:xfrm>
          <a:prstGeom prst="rect">
            <a:avLst/>
          </a:prstGeom>
          <a:noFill/>
        </p:spPr>
        <p:txBody>
          <a:bodyPr wrap="none">
            <a:spAutoFit/>
          </a:bodyPr>
          <a:lstStyle/>
          <a:p>
            <a:pPr>
              <a:defRPr sz="1250">
                <a:solidFill>
                  <a:srgbClr val="2A313A"/>
                </a:solidFill>
              </a:defRPr>
            </a:pPr>
            <a:r>
              <a:t>No actual charges, payments, claims, costs or timestamps</a:t>
            </a:r>
          </a:p>
        </p:txBody>
      </p:sp>
      <p:sp>
        <p:nvSpPr>
          <p:cNvPr id="29" name="TextBox 28"/>
          <p:cNvSpPr txBox="1"/>
          <p:nvPr/>
        </p:nvSpPr>
        <p:spPr>
          <a:xfrm>
            <a:off x="594360" y="6473952"/>
            <a:ext cx="10972800" cy="182880"/>
          </a:xfrm>
          <a:prstGeom prst="rect">
            <a:avLst/>
          </a:prstGeom>
          <a:noFill/>
        </p:spPr>
        <p:txBody>
          <a:bodyPr wrap="none">
            <a:spAutoFit/>
          </a:bodyPr>
          <a:lstStyle/>
          <a:p>
            <a:pPr>
              <a:defRPr sz="800">
                <a:solidFill>
                  <a:srgbClr val="646E78"/>
                </a:solidFill>
              </a:defRPr>
            </a:pPr>
            <a:r>
              <a:t>Hospital Revenue &amp; Cost Operations | Executive Discussion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pPr>
              <a:defRPr sz="2800" b="1">
                <a:solidFill>
                  <a:srgbClr val="162A4A"/>
                </a:solidFill>
              </a:defRPr>
            </a:pPr>
            <a:r>
              <a:t>Revenue Operations opportunities</a:t>
            </a:r>
          </a:p>
        </p:txBody>
      </p:sp>
      <p:sp>
        <p:nvSpPr>
          <p:cNvPr id="4" name="TextBox 3"/>
          <p:cNvSpPr txBox="1"/>
          <p:nvPr/>
        </p:nvSpPr>
        <p:spPr>
          <a:xfrm>
            <a:off x="621792" y="932688"/>
            <a:ext cx="10789920" cy="365760"/>
          </a:xfrm>
          <a:prstGeom prst="rect">
            <a:avLst/>
          </a:prstGeom>
          <a:noFill/>
        </p:spPr>
        <p:txBody>
          <a:bodyPr wrap="none">
            <a:spAutoFit/>
          </a:bodyPr>
          <a:lstStyle/>
          <a:p>
            <a:pPr>
              <a:defRPr sz="1300">
                <a:solidFill>
                  <a:srgbClr val="646E78"/>
                </a:solidFill>
              </a:defRPr>
            </a:pPr>
            <a:r>
              <a:t>Turn clinical activity into revenue visibility and leakage prevention</a:t>
            </a:r>
          </a:p>
        </p:txBody>
      </p:sp>
      <p:sp>
        <p:nvSpPr>
          <p:cNvPr id="5" name="Rounded Rectangle 4"/>
          <p:cNvSpPr/>
          <p:nvPr/>
        </p:nvSpPr>
        <p:spPr>
          <a:xfrm>
            <a:off x="640080" y="1371600"/>
            <a:ext cx="3383280" cy="182880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371600"/>
            <a:ext cx="64008" cy="1828800"/>
          </a:xfrm>
          <a:prstGeom prst="rect">
            <a:avLst/>
          </a:prstGeom>
          <a:solidFill>
            <a:srgbClr val="2C5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508760"/>
            <a:ext cx="3108960" cy="384048"/>
          </a:xfrm>
          <a:prstGeom prst="rect">
            <a:avLst/>
          </a:prstGeom>
          <a:noFill/>
        </p:spPr>
        <p:txBody>
          <a:bodyPr wrap="none">
            <a:spAutoFit/>
          </a:bodyPr>
          <a:lstStyle/>
          <a:p>
            <a:pPr>
              <a:defRPr sz="1600" b="1">
                <a:solidFill>
                  <a:srgbClr val="162A4A"/>
                </a:solidFill>
              </a:defRPr>
            </a:pPr>
            <a:r>
              <a:t>Payer economics</a:t>
            </a:r>
          </a:p>
        </p:txBody>
      </p:sp>
      <p:sp>
        <p:nvSpPr>
          <p:cNvPr id="8" name="TextBox 7"/>
          <p:cNvSpPr txBox="1"/>
          <p:nvPr/>
        </p:nvSpPr>
        <p:spPr>
          <a:xfrm>
            <a:off x="822959" y="1984248"/>
            <a:ext cx="3108960" cy="1115568"/>
          </a:xfrm>
          <a:prstGeom prst="rect">
            <a:avLst/>
          </a:prstGeom>
          <a:noFill/>
        </p:spPr>
        <p:txBody>
          <a:bodyPr wrap="none">
            <a:spAutoFit/>
          </a:bodyPr>
          <a:lstStyle/>
          <a:p>
            <a:pPr>
              <a:defRPr sz="1250">
                <a:solidFill>
                  <a:srgbClr val="2A313A"/>
                </a:solidFill>
              </a:defRPr>
            </a:pPr>
            <a:r>
              <a:t>Payer mix → reimbursement → net revenue → contribution margin</a:t>
            </a:r>
          </a:p>
        </p:txBody>
      </p:sp>
      <p:sp>
        <p:nvSpPr>
          <p:cNvPr id="9" name="Rounded Rectangle 8"/>
          <p:cNvSpPr/>
          <p:nvPr/>
        </p:nvSpPr>
        <p:spPr>
          <a:xfrm>
            <a:off x="4343400" y="1371600"/>
            <a:ext cx="3383280" cy="182880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1371600"/>
            <a:ext cx="64008" cy="1828800"/>
          </a:xfrm>
          <a:prstGeom prst="rect">
            <a:avLst/>
          </a:prstGeom>
          <a:solidFill>
            <a:srgbClr val="B8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508760"/>
            <a:ext cx="3108960" cy="384048"/>
          </a:xfrm>
          <a:prstGeom prst="rect">
            <a:avLst/>
          </a:prstGeom>
          <a:noFill/>
        </p:spPr>
        <p:txBody>
          <a:bodyPr wrap="none">
            <a:spAutoFit/>
          </a:bodyPr>
          <a:lstStyle/>
          <a:p>
            <a:pPr>
              <a:defRPr sz="1600" b="1">
                <a:solidFill>
                  <a:srgbClr val="162A4A"/>
                </a:solidFill>
              </a:defRPr>
            </a:pPr>
            <a:r>
              <a:t>Revenue leakage</a:t>
            </a:r>
          </a:p>
        </p:txBody>
      </p:sp>
      <p:sp>
        <p:nvSpPr>
          <p:cNvPr id="12" name="TextBox 11"/>
          <p:cNvSpPr txBox="1"/>
          <p:nvPr/>
        </p:nvSpPr>
        <p:spPr>
          <a:xfrm>
            <a:off x="4526280" y="1984248"/>
            <a:ext cx="3108960" cy="1115568"/>
          </a:xfrm>
          <a:prstGeom prst="rect">
            <a:avLst/>
          </a:prstGeom>
          <a:noFill/>
        </p:spPr>
        <p:txBody>
          <a:bodyPr wrap="none">
            <a:spAutoFit/>
          </a:bodyPr>
          <a:lstStyle/>
          <a:p>
            <a:pPr>
              <a:defRPr sz="1250">
                <a:solidFill>
                  <a:srgbClr val="2A313A"/>
                </a:solidFill>
              </a:defRPr>
            </a:pPr>
            <a:r>
              <a:t>Unbilled services, denials, underpayments, coding and authorization gaps</a:t>
            </a:r>
          </a:p>
        </p:txBody>
      </p:sp>
      <p:sp>
        <p:nvSpPr>
          <p:cNvPr id="13" name="Rounded Rectangle 12"/>
          <p:cNvSpPr/>
          <p:nvPr/>
        </p:nvSpPr>
        <p:spPr>
          <a:xfrm>
            <a:off x="8046719" y="1371600"/>
            <a:ext cx="3383280" cy="182880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19" y="1371600"/>
            <a:ext cx="64008" cy="1828800"/>
          </a:xfrm>
          <a:prstGeom prst="rect">
            <a:avLst/>
          </a:prstGeom>
          <a:solidFill>
            <a:srgbClr val="1C84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9" y="1508760"/>
            <a:ext cx="3108960" cy="384048"/>
          </a:xfrm>
          <a:prstGeom prst="rect">
            <a:avLst/>
          </a:prstGeom>
          <a:noFill/>
        </p:spPr>
        <p:txBody>
          <a:bodyPr wrap="none">
            <a:spAutoFit/>
          </a:bodyPr>
          <a:lstStyle/>
          <a:p>
            <a:pPr>
              <a:defRPr sz="1600" b="1">
                <a:solidFill>
                  <a:srgbClr val="162A4A"/>
                </a:solidFill>
              </a:defRPr>
            </a:pPr>
            <a:r>
              <a:t>Service-line value</a:t>
            </a:r>
          </a:p>
        </p:txBody>
      </p:sp>
      <p:sp>
        <p:nvSpPr>
          <p:cNvPr id="16" name="TextBox 15"/>
          <p:cNvSpPr txBox="1"/>
          <p:nvPr/>
        </p:nvSpPr>
        <p:spPr>
          <a:xfrm>
            <a:off x="8229599" y="1984248"/>
            <a:ext cx="3108960" cy="1115568"/>
          </a:xfrm>
          <a:prstGeom prst="rect">
            <a:avLst/>
          </a:prstGeom>
          <a:noFill/>
        </p:spPr>
        <p:txBody>
          <a:bodyPr wrap="none">
            <a:spAutoFit/>
          </a:bodyPr>
          <a:lstStyle/>
          <a:p>
            <a:pPr>
              <a:defRPr sz="1250">
                <a:solidFill>
                  <a:srgbClr val="2A313A"/>
                </a:solidFill>
              </a:defRPr>
            </a:pPr>
            <a:r>
              <a:t>Specialty / procedure / DRG performance by volume, revenue and margin</a:t>
            </a:r>
          </a:p>
        </p:txBody>
      </p:sp>
      <p:sp>
        <p:nvSpPr>
          <p:cNvPr id="17" name="Rounded Rectangle 16"/>
          <p:cNvSpPr/>
          <p:nvPr/>
        </p:nvSpPr>
        <p:spPr>
          <a:xfrm>
            <a:off x="640080" y="3566160"/>
            <a:ext cx="3383280" cy="182880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3566160"/>
            <a:ext cx="64008" cy="1828800"/>
          </a:xfrm>
          <a:prstGeom prst="rect">
            <a:avLst/>
          </a:prstGeom>
          <a:solidFill>
            <a:srgbClr val="D67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3703320"/>
            <a:ext cx="3108960" cy="384048"/>
          </a:xfrm>
          <a:prstGeom prst="rect">
            <a:avLst/>
          </a:prstGeom>
          <a:noFill/>
        </p:spPr>
        <p:txBody>
          <a:bodyPr wrap="none">
            <a:spAutoFit/>
          </a:bodyPr>
          <a:lstStyle/>
          <a:p>
            <a:pPr>
              <a:defRPr sz="1600" b="1">
                <a:solidFill>
                  <a:srgbClr val="162A4A"/>
                </a:solidFill>
              </a:defRPr>
            </a:pPr>
            <a:r>
              <a:t>Revenue cycle</a:t>
            </a:r>
          </a:p>
        </p:txBody>
      </p:sp>
      <p:sp>
        <p:nvSpPr>
          <p:cNvPr id="20" name="TextBox 19"/>
          <p:cNvSpPr txBox="1"/>
          <p:nvPr/>
        </p:nvSpPr>
        <p:spPr>
          <a:xfrm>
            <a:off x="822959" y="4178808"/>
            <a:ext cx="3108960" cy="1115568"/>
          </a:xfrm>
          <a:prstGeom prst="rect">
            <a:avLst/>
          </a:prstGeom>
          <a:noFill/>
        </p:spPr>
        <p:txBody>
          <a:bodyPr wrap="none">
            <a:spAutoFit/>
          </a:bodyPr>
          <a:lstStyle/>
          <a:p>
            <a:pPr>
              <a:defRPr sz="1250">
                <a:solidFill>
                  <a:srgbClr val="2A313A"/>
                </a:solidFill>
              </a:defRPr>
            </a:pPr>
            <a:r>
              <a:t>Charge → claim → denial → payment → collection</a:t>
            </a:r>
          </a:p>
        </p:txBody>
      </p:sp>
      <p:sp>
        <p:nvSpPr>
          <p:cNvPr id="21" name="Rounded Rectangle 20"/>
          <p:cNvSpPr/>
          <p:nvPr/>
        </p:nvSpPr>
        <p:spPr>
          <a:xfrm>
            <a:off x="4343400" y="3566160"/>
            <a:ext cx="3383280" cy="182880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43400" y="3566160"/>
            <a:ext cx="64008" cy="1828800"/>
          </a:xfrm>
          <a:prstGeom prst="rect">
            <a:avLst/>
          </a:prstGeom>
          <a:solidFill>
            <a:srgbClr val="2E7D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6280" y="3703320"/>
            <a:ext cx="3108960" cy="384048"/>
          </a:xfrm>
          <a:prstGeom prst="rect">
            <a:avLst/>
          </a:prstGeom>
          <a:noFill/>
        </p:spPr>
        <p:txBody>
          <a:bodyPr wrap="none">
            <a:spAutoFit/>
          </a:bodyPr>
          <a:lstStyle/>
          <a:p>
            <a:pPr>
              <a:defRPr sz="1600" b="1">
                <a:solidFill>
                  <a:srgbClr val="162A4A"/>
                </a:solidFill>
              </a:defRPr>
            </a:pPr>
            <a:r>
              <a:t>Patient journey</a:t>
            </a:r>
          </a:p>
        </p:txBody>
      </p:sp>
      <p:sp>
        <p:nvSpPr>
          <p:cNvPr id="24" name="TextBox 23"/>
          <p:cNvSpPr txBox="1"/>
          <p:nvPr/>
        </p:nvSpPr>
        <p:spPr>
          <a:xfrm>
            <a:off x="4526280" y="4178808"/>
            <a:ext cx="3108960" cy="1115568"/>
          </a:xfrm>
          <a:prstGeom prst="rect">
            <a:avLst/>
          </a:prstGeom>
          <a:noFill/>
        </p:spPr>
        <p:txBody>
          <a:bodyPr wrap="none">
            <a:spAutoFit/>
          </a:bodyPr>
          <a:lstStyle/>
          <a:p>
            <a:pPr>
              <a:defRPr sz="1250">
                <a:solidFill>
                  <a:srgbClr val="2A313A"/>
                </a:solidFill>
              </a:defRPr>
            </a:pPr>
            <a:r>
              <a:t>Identify appropriate follow-up and care-management opportunities</a:t>
            </a:r>
          </a:p>
        </p:txBody>
      </p:sp>
      <p:sp>
        <p:nvSpPr>
          <p:cNvPr id="25" name="Rounded Rectangle 24"/>
          <p:cNvSpPr/>
          <p:nvPr/>
        </p:nvSpPr>
        <p:spPr>
          <a:xfrm>
            <a:off x="8046719" y="3566160"/>
            <a:ext cx="3383280" cy="182880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46719" y="3566160"/>
            <a:ext cx="64008" cy="1828800"/>
          </a:xfrm>
          <a:prstGeom prst="rect">
            <a:avLst/>
          </a:prstGeom>
          <a:solidFill>
            <a:srgbClr val="2C5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599" y="3703320"/>
            <a:ext cx="3108960" cy="384048"/>
          </a:xfrm>
          <a:prstGeom prst="rect">
            <a:avLst/>
          </a:prstGeom>
          <a:noFill/>
        </p:spPr>
        <p:txBody>
          <a:bodyPr wrap="none">
            <a:spAutoFit/>
          </a:bodyPr>
          <a:lstStyle/>
          <a:p>
            <a:pPr>
              <a:defRPr sz="1600" b="1">
                <a:solidFill>
                  <a:srgbClr val="162A4A"/>
                </a:solidFill>
              </a:defRPr>
            </a:pPr>
            <a:r>
              <a:t>Contract performance</a:t>
            </a:r>
          </a:p>
        </p:txBody>
      </p:sp>
      <p:sp>
        <p:nvSpPr>
          <p:cNvPr id="28" name="TextBox 27"/>
          <p:cNvSpPr txBox="1"/>
          <p:nvPr/>
        </p:nvSpPr>
        <p:spPr>
          <a:xfrm>
            <a:off x="8229599" y="4178808"/>
            <a:ext cx="3108960" cy="1115568"/>
          </a:xfrm>
          <a:prstGeom prst="rect">
            <a:avLst/>
          </a:prstGeom>
          <a:noFill/>
        </p:spPr>
        <p:txBody>
          <a:bodyPr wrap="none">
            <a:spAutoFit/>
          </a:bodyPr>
          <a:lstStyle/>
          <a:p>
            <a:pPr>
              <a:defRPr sz="1250">
                <a:solidFill>
                  <a:srgbClr val="2A313A"/>
                </a:solidFill>
              </a:defRPr>
            </a:pPr>
            <a:r>
              <a:t>Compare payer contract terms with actual reimbursement</a:t>
            </a:r>
          </a:p>
        </p:txBody>
      </p:sp>
      <p:sp>
        <p:nvSpPr>
          <p:cNvPr id="29" name="TextBox 28"/>
          <p:cNvSpPr txBox="1"/>
          <p:nvPr/>
        </p:nvSpPr>
        <p:spPr>
          <a:xfrm>
            <a:off x="594360" y="6473952"/>
            <a:ext cx="10972800" cy="182880"/>
          </a:xfrm>
          <a:prstGeom prst="rect">
            <a:avLst/>
          </a:prstGeom>
          <a:noFill/>
        </p:spPr>
        <p:txBody>
          <a:bodyPr wrap="none">
            <a:spAutoFit/>
          </a:bodyPr>
          <a:lstStyle/>
          <a:p>
            <a:pPr>
              <a:defRPr sz="800">
                <a:solidFill>
                  <a:srgbClr val="646E78"/>
                </a:solidFill>
              </a:defRPr>
            </a:pPr>
            <a:r>
              <a:t>Hospital Revenue &amp; Cost Operations | Executive Discussion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pPr>
              <a:defRPr sz="2800" b="1">
                <a:solidFill>
                  <a:srgbClr val="162A4A"/>
                </a:solidFill>
              </a:defRPr>
            </a:pPr>
            <a:r>
              <a:t>Cost Operations opportunities</a:t>
            </a:r>
          </a:p>
        </p:txBody>
      </p:sp>
      <p:sp>
        <p:nvSpPr>
          <p:cNvPr id="4" name="TextBox 3"/>
          <p:cNvSpPr txBox="1"/>
          <p:nvPr/>
        </p:nvSpPr>
        <p:spPr>
          <a:xfrm>
            <a:off x="621792" y="932688"/>
            <a:ext cx="10789920" cy="365760"/>
          </a:xfrm>
          <a:prstGeom prst="rect">
            <a:avLst/>
          </a:prstGeom>
          <a:noFill/>
        </p:spPr>
        <p:txBody>
          <a:bodyPr wrap="none">
            <a:spAutoFit/>
          </a:bodyPr>
          <a:lstStyle/>
          <a:p>
            <a:pPr>
              <a:defRPr sz="1300">
                <a:solidFill>
                  <a:srgbClr val="646E78"/>
                </a:solidFill>
              </a:defRPr>
            </a:pPr>
            <a:r>
              <a:t>Focus on avoidable utilization and resource intensity</a:t>
            </a:r>
          </a:p>
        </p:txBody>
      </p:sp>
      <p:sp>
        <p:nvSpPr>
          <p:cNvPr id="5" name="Rounded Rectangle 4"/>
          <p:cNvSpPr/>
          <p:nvPr/>
        </p:nvSpPr>
        <p:spPr>
          <a:xfrm>
            <a:off x="640080" y="1371600"/>
            <a:ext cx="3383280" cy="182880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371600"/>
            <a:ext cx="64008" cy="1828800"/>
          </a:xfrm>
          <a:prstGeom prst="rect">
            <a:avLst/>
          </a:prstGeom>
          <a:solidFill>
            <a:srgbClr val="2C5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508760"/>
            <a:ext cx="3108960" cy="384048"/>
          </a:xfrm>
          <a:prstGeom prst="rect">
            <a:avLst/>
          </a:prstGeom>
          <a:noFill/>
        </p:spPr>
        <p:txBody>
          <a:bodyPr wrap="none">
            <a:spAutoFit/>
          </a:bodyPr>
          <a:lstStyle/>
          <a:p>
            <a:pPr>
              <a:defRPr sz="1600" b="1">
                <a:solidFill>
                  <a:srgbClr val="162A4A"/>
                </a:solidFill>
              </a:defRPr>
            </a:pPr>
            <a:r>
              <a:t>Length of stay</a:t>
            </a:r>
          </a:p>
        </p:txBody>
      </p:sp>
      <p:sp>
        <p:nvSpPr>
          <p:cNvPr id="8" name="TextBox 7"/>
          <p:cNvSpPr txBox="1"/>
          <p:nvPr/>
        </p:nvSpPr>
        <p:spPr>
          <a:xfrm>
            <a:off x="822959" y="1984248"/>
            <a:ext cx="3108960" cy="1115568"/>
          </a:xfrm>
          <a:prstGeom prst="rect">
            <a:avLst/>
          </a:prstGeom>
          <a:noFill/>
        </p:spPr>
        <p:txBody>
          <a:bodyPr wrap="none">
            <a:spAutoFit/>
          </a:bodyPr>
          <a:lstStyle/>
          <a:p>
            <a:pPr>
              <a:defRPr sz="1250">
                <a:solidFill>
                  <a:srgbClr val="2A313A"/>
                </a:solidFill>
              </a:defRPr>
            </a:pPr>
            <a:r>
              <a:t>Benchmark LOS by diagnosis, specialty, admission type and discharge pathway</a:t>
            </a:r>
          </a:p>
        </p:txBody>
      </p:sp>
      <p:sp>
        <p:nvSpPr>
          <p:cNvPr id="9" name="Rounded Rectangle 8"/>
          <p:cNvSpPr/>
          <p:nvPr/>
        </p:nvSpPr>
        <p:spPr>
          <a:xfrm>
            <a:off x="4343400" y="1371600"/>
            <a:ext cx="3383280" cy="182880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1371600"/>
            <a:ext cx="64008" cy="1828800"/>
          </a:xfrm>
          <a:prstGeom prst="rect">
            <a:avLst/>
          </a:prstGeom>
          <a:solidFill>
            <a:srgbClr val="B8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508760"/>
            <a:ext cx="3108960" cy="384048"/>
          </a:xfrm>
          <a:prstGeom prst="rect">
            <a:avLst/>
          </a:prstGeom>
          <a:noFill/>
        </p:spPr>
        <p:txBody>
          <a:bodyPr wrap="none">
            <a:spAutoFit/>
          </a:bodyPr>
          <a:lstStyle/>
          <a:p>
            <a:pPr>
              <a:defRPr sz="1600" b="1">
                <a:solidFill>
                  <a:srgbClr val="162A4A"/>
                </a:solidFill>
              </a:defRPr>
            </a:pPr>
            <a:r>
              <a:t>Readmissions</a:t>
            </a:r>
          </a:p>
        </p:txBody>
      </p:sp>
      <p:sp>
        <p:nvSpPr>
          <p:cNvPr id="12" name="TextBox 11"/>
          <p:cNvSpPr txBox="1"/>
          <p:nvPr/>
        </p:nvSpPr>
        <p:spPr>
          <a:xfrm>
            <a:off x="4526280" y="1984248"/>
            <a:ext cx="3108960" cy="1115568"/>
          </a:xfrm>
          <a:prstGeom prst="rect">
            <a:avLst/>
          </a:prstGeom>
          <a:noFill/>
        </p:spPr>
        <p:txBody>
          <a:bodyPr wrap="none">
            <a:spAutoFit/>
          </a:bodyPr>
          <a:lstStyle/>
          <a:p>
            <a:pPr>
              <a:defRPr sz="1250">
                <a:solidFill>
                  <a:srgbClr val="2A313A"/>
                </a:solidFill>
              </a:defRPr>
            </a:pPr>
            <a:r>
              <a:t>Identify high-risk patients and targeted post-discharge interventions</a:t>
            </a:r>
          </a:p>
        </p:txBody>
      </p:sp>
      <p:sp>
        <p:nvSpPr>
          <p:cNvPr id="13" name="Rounded Rectangle 12"/>
          <p:cNvSpPr/>
          <p:nvPr/>
        </p:nvSpPr>
        <p:spPr>
          <a:xfrm>
            <a:off x="8046719" y="1371600"/>
            <a:ext cx="3383280" cy="182880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19" y="1371600"/>
            <a:ext cx="64008" cy="1828800"/>
          </a:xfrm>
          <a:prstGeom prst="rect">
            <a:avLst/>
          </a:prstGeom>
          <a:solidFill>
            <a:srgbClr val="1C84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9" y="1508760"/>
            <a:ext cx="3108960" cy="384048"/>
          </a:xfrm>
          <a:prstGeom prst="rect">
            <a:avLst/>
          </a:prstGeom>
          <a:noFill/>
        </p:spPr>
        <p:txBody>
          <a:bodyPr wrap="none">
            <a:spAutoFit/>
          </a:bodyPr>
          <a:lstStyle/>
          <a:p>
            <a:pPr>
              <a:defRPr sz="1600" b="1">
                <a:solidFill>
                  <a:srgbClr val="162A4A"/>
                </a:solidFill>
              </a:defRPr>
            </a:pPr>
            <a:r>
              <a:t>High utilizers</a:t>
            </a:r>
          </a:p>
        </p:txBody>
      </p:sp>
      <p:sp>
        <p:nvSpPr>
          <p:cNvPr id="16" name="TextBox 15"/>
          <p:cNvSpPr txBox="1"/>
          <p:nvPr/>
        </p:nvSpPr>
        <p:spPr>
          <a:xfrm>
            <a:off x="8229599" y="1984248"/>
            <a:ext cx="3108960" cy="1115568"/>
          </a:xfrm>
          <a:prstGeom prst="rect">
            <a:avLst/>
          </a:prstGeom>
          <a:noFill/>
        </p:spPr>
        <p:txBody>
          <a:bodyPr wrap="none">
            <a:spAutoFit/>
          </a:bodyPr>
          <a:lstStyle/>
          <a:p>
            <a:pPr>
              <a:defRPr sz="1250">
                <a:solidFill>
                  <a:srgbClr val="2A313A"/>
                </a:solidFill>
              </a:defRPr>
            </a:pPr>
            <a:r>
              <a:t>Combine ED + inpatient + outpatient history to identify complex-care cohorts</a:t>
            </a:r>
          </a:p>
        </p:txBody>
      </p:sp>
      <p:sp>
        <p:nvSpPr>
          <p:cNvPr id="17" name="Rounded Rectangle 16"/>
          <p:cNvSpPr/>
          <p:nvPr/>
        </p:nvSpPr>
        <p:spPr>
          <a:xfrm>
            <a:off x="640080" y="3566160"/>
            <a:ext cx="3383280" cy="182880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3566160"/>
            <a:ext cx="64008" cy="1828800"/>
          </a:xfrm>
          <a:prstGeom prst="rect">
            <a:avLst/>
          </a:prstGeom>
          <a:solidFill>
            <a:srgbClr val="D67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3703320"/>
            <a:ext cx="3108960" cy="384048"/>
          </a:xfrm>
          <a:prstGeom prst="rect">
            <a:avLst/>
          </a:prstGeom>
          <a:noFill/>
        </p:spPr>
        <p:txBody>
          <a:bodyPr wrap="none">
            <a:spAutoFit/>
          </a:bodyPr>
          <a:lstStyle/>
          <a:p>
            <a:pPr>
              <a:defRPr sz="1600" b="1">
                <a:solidFill>
                  <a:srgbClr val="162A4A"/>
                </a:solidFill>
              </a:defRPr>
            </a:pPr>
            <a:r>
              <a:t>Lab utilization</a:t>
            </a:r>
          </a:p>
        </p:txBody>
      </p:sp>
      <p:sp>
        <p:nvSpPr>
          <p:cNvPr id="20" name="TextBox 19"/>
          <p:cNvSpPr txBox="1"/>
          <p:nvPr/>
        </p:nvSpPr>
        <p:spPr>
          <a:xfrm>
            <a:off x="822959" y="4178808"/>
            <a:ext cx="3108960" cy="1115568"/>
          </a:xfrm>
          <a:prstGeom prst="rect">
            <a:avLst/>
          </a:prstGeom>
          <a:noFill/>
        </p:spPr>
        <p:txBody>
          <a:bodyPr wrap="none">
            <a:spAutoFit/>
          </a:bodyPr>
          <a:lstStyle/>
          <a:p>
            <a:pPr>
              <a:defRPr sz="1250">
                <a:solidFill>
                  <a:srgbClr val="2A313A"/>
                </a:solidFill>
              </a:defRPr>
            </a:pPr>
            <a:r>
              <a:t>Compare test intensity for clinically comparable patient groups</a:t>
            </a:r>
          </a:p>
        </p:txBody>
      </p:sp>
      <p:sp>
        <p:nvSpPr>
          <p:cNvPr id="21" name="Rounded Rectangle 20"/>
          <p:cNvSpPr/>
          <p:nvPr/>
        </p:nvSpPr>
        <p:spPr>
          <a:xfrm>
            <a:off x="4343400" y="3566160"/>
            <a:ext cx="3383280" cy="182880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43400" y="3566160"/>
            <a:ext cx="64008" cy="1828800"/>
          </a:xfrm>
          <a:prstGeom prst="rect">
            <a:avLst/>
          </a:prstGeom>
          <a:solidFill>
            <a:srgbClr val="2E7D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6280" y="3703320"/>
            <a:ext cx="3108960" cy="384048"/>
          </a:xfrm>
          <a:prstGeom prst="rect">
            <a:avLst/>
          </a:prstGeom>
          <a:noFill/>
        </p:spPr>
        <p:txBody>
          <a:bodyPr wrap="none">
            <a:spAutoFit/>
          </a:bodyPr>
          <a:lstStyle/>
          <a:p>
            <a:pPr>
              <a:defRPr sz="1600" b="1">
                <a:solidFill>
                  <a:srgbClr val="162A4A"/>
                </a:solidFill>
              </a:defRPr>
            </a:pPr>
            <a:r>
              <a:t>Medication</a:t>
            </a:r>
          </a:p>
        </p:txBody>
      </p:sp>
      <p:sp>
        <p:nvSpPr>
          <p:cNvPr id="24" name="TextBox 23"/>
          <p:cNvSpPr txBox="1"/>
          <p:nvPr/>
        </p:nvSpPr>
        <p:spPr>
          <a:xfrm>
            <a:off x="4526280" y="4178808"/>
            <a:ext cx="3108960" cy="1115568"/>
          </a:xfrm>
          <a:prstGeom prst="rect">
            <a:avLst/>
          </a:prstGeom>
          <a:noFill/>
        </p:spPr>
        <p:txBody>
          <a:bodyPr wrap="none">
            <a:spAutoFit/>
          </a:bodyPr>
          <a:lstStyle/>
          <a:p>
            <a:pPr>
              <a:defRPr sz="1250">
                <a:solidFill>
                  <a:srgbClr val="2A313A"/>
                </a:solidFill>
              </a:defRPr>
            </a:pPr>
            <a:r>
              <a:t>Review medication intensity, reconciliation and pharmacy utilization</a:t>
            </a:r>
          </a:p>
        </p:txBody>
      </p:sp>
      <p:sp>
        <p:nvSpPr>
          <p:cNvPr id="25" name="Rounded Rectangle 24"/>
          <p:cNvSpPr/>
          <p:nvPr/>
        </p:nvSpPr>
        <p:spPr>
          <a:xfrm>
            <a:off x="8046719" y="3566160"/>
            <a:ext cx="3383280" cy="182880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46719" y="3566160"/>
            <a:ext cx="64008" cy="1828800"/>
          </a:xfrm>
          <a:prstGeom prst="rect">
            <a:avLst/>
          </a:prstGeom>
          <a:solidFill>
            <a:srgbClr val="2C5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599" y="3703320"/>
            <a:ext cx="3108960" cy="384048"/>
          </a:xfrm>
          <a:prstGeom prst="rect">
            <a:avLst/>
          </a:prstGeom>
          <a:noFill/>
        </p:spPr>
        <p:txBody>
          <a:bodyPr wrap="none">
            <a:spAutoFit/>
          </a:bodyPr>
          <a:lstStyle/>
          <a:p>
            <a:pPr>
              <a:defRPr sz="1600" b="1">
                <a:solidFill>
                  <a:srgbClr val="162A4A"/>
                </a:solidFill>
              </a:defRPr>
            </a:pPr>
            <a:r>
              <a:t>Capacity</a:t>
            </a:r>
          </a:p>
        </p:txBody>
      </p:sp>
      <p:sp>
        <p:nvSpPr>
          <p:cNvPr id="28" name="TextBox 27"/>
          <p:cNvSpPr txBox="1"/>
          <p:nvPr/>
        </p:nvSpPr>
        <p:spPr>
          <a:xfrm>
            <a:off x="8229599" y="4178808"/>
            <a:ext cx="3108960" cy="1115568"/>
          </a:xfrm>
          <a:prstGeom prst="rect">
            <a:avLst/>
          </a:prstGeom>
          <a:noFill/>
        </p:spPr>
        <p:txBody>
          <a:bodyPr wrap="none">
            <a:spAutoFit/>
          </a:bodyPr>
          <a:lstStyle/>
          <a:p>
            <a:pPr>
              <a:defRPr sz="1250">
                <a:solidFill>
                  <a:srgbClr val="2A313A"/>
                </a:solidFill>
              </a:defRPr>
            </a:pPr>
            <a:r>
              <a:t>Connect LOS and bed utilization to staffing and bed-day cost</a:t>
            </a:r>
          </a:p>
        </p:txBody>
      </p:sp>
      <p:sp>
        <p:nvSpPr>
          <p:cNvPr id="29" name="TextBox 28"/>
          <p:cNvSpPr txBox="1"/>
          <p:nvPr/>
        </p:nvSpPr>
        <p:spPr>
          <a:xfrm>
            <a:off x="594360" y="6473952"/>
            <a:ext cx="10972800" cy="182880"/>
          </a:xfrm>
          <a:prstGeom prst="rect">
            <a:avLst/>
          </a:prstGeom>
          <a:noFill/>
        </p:spPr>
        <p:txBody>
          <a:bodyPr wrap="none">
            <a:spAutoFit/>
          </a:bodyPr>
          <a:lstStyle/>
          <a:p>
            <a:pPr>
              <a:defRPr sz="800">
                <a:solidFill>
                  <a:srgbClr val="646E78"/>
                </a:solidFill>
              </a:defRPr>
            </a:pPr>
            <a:r>
              <a:t>Hospital Revenue &amp; Cost Operations | Executive Discussion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pPr>
              <a:defRPr sz="2800" b="1">
                <a:solidFill>
                  <a:srgbClr val="162A4A"/>
                </a:solidFill>
              </a:defRPr>
            </a:pPr>
            <a:r>
              <a:t>Early signals from the dataset</a:t>
            </a:r>
          </a:p>
        </p:txBody>
      </p:sp>
      <p:sp>
        <p:nvSpPr>
          <p:cNvPr id="4" name="TextBox 3"/>
          <p:cNvSpPr txBox="1"/>
          <p:nvPr/>
        </p:nvSpPr>
        <p:spPr>
          <a:xfrm>
            <a:off x="621792" y="932688"/>
            <a:ext cx="10789920" cy="365760"/>
          </a:xfrm>
          <a:prstGeom prst="rect">
            <a:avLst/>
          </a:prstGeom>
          <a:noFill/>
        </p:spPr>
        <p:txBody>
          <a:bodyPr wrap="none">
            <a:spAutoFit/>
          </a:bodyPr>
          <a:lstStyle/>
          <a:p>
            <a:pPr>
              <a:defRPr sz="1300">
                <a:solidFill>
                  <a:srgbClr val="646E78"/>
                </a:solidFill>
              </a:defRPr>
            </a:pPr>
            <a:r>
              <a:t>Useful signals — not yet financial conclusions</a:t>
            </a:r>
          </a:p>
        </p:txBody>
      </p:sp>
      <p:sp>
        <p:nvSpPr>
          <p:cNvPr id="5" name="Rounded Rectangle 4"/>
          <p:cNvSpPr/>
          <p:nvPr/>
        </p:nvSpPr>
        <p:spPr>
          <a:xfrm>
            <a:off x="640080" y="1371600"/>
            <a:ext cx="3383280" cy="182880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371600"/>
            <a:ext cx="64008" cy="1828800"/>
          </a:xfrm>
          <a:prstGeom prst="rect">
            <a:avLst/>
          </a:prstGeom>
          <a:solidFill>
            <a:srgbClr val="B8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508760"/>
            <a:ext cx="3108960" cy="384048"/>
          </a:xfrm>
          <a:prstGeom prst="rect">
            <a:avLst/>
          </a:prstGeom>
          <a:noFill/>
        </p:spPr>
        <p:txBody>
          <a:bodyPr wrap="none">
            <a:spAutoFit/>
          </a:bodyPr>
          <a:lstStyle/>
          <a:p>
            <a:pPr>
              <a:defRPr sz="1600" b="1">
                <a:solidFill>
                  <a:srgbClr val="162A4A"/>
                </a:solidFill>
              </a:defRPr>
            </a:pPr>
            <a:r>
              <a:t>Readmission</a:t>
            </a:r>
          </a:p>
        </p:txBody>
      </p:sp>
      <p:sp>
        <p:nvSpPr>
          <p:cNvPr id="8" name="TextBox 7"/>
          <p:cNvSpPr txBox="1"/>
          <p:nvPr/>
        </p:nvSpPr>
        <p:spPr>
          <a:xfrm>
            <a:off x="822959" y="1984248"/>
            <a:ext cx="3108960" cy="1115568"/>
          </a:xfrm>
          <a:prstGeom prst="rect">
            <a:avLst/>
          </a:prstGeom>
          <a:noFill/>
        </p:spPr>
        <p:txBody>
          <a:bodyPr wrap="none">
            <a:spAutoFit/>
          </a:bodyPr>
          <a:lstStyle/>
          <a:p>
            <a:pPr>
              <a:defRPr sz="1250">
                <a:solidFill>
                  <a:srgbClr val="2A313A"/>
                </a:solidFill>
              </a:defRPr>
            </a:pPr>
            <a:r>
              <a:t>≈46% of encounters have a readmission outcome of &lt;30 or &gt;30 days</a:t>
            </a:r>
          </a:p>
        </p:txBody>
      </p:sp>
      <p:sp>
        <p:nvSpPr>
          <p:cNvPr id="9" name="Rounded Rectangle 8"/>
          <p:cNvSpPr/>
          <p:nvPr/>
        </p:nvSpPr>
        <p:spPr>
          <a:xfrm>
            <a:off x="4343400" y="1371600"/>
            <a:ext cx="3383280" cy="182880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1371600"/>
            <a:ext cx="64008" cy="1828800"/>
          </a:xfrm>
          <a:prstGeom prst="rect">
            <a:avLst/>
          </a:prstGeom>
          <a:solidFill>
            <a:srgbClr val="2C5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508760"/>
            <a:ext cx="3108960" cy="384048"/>
          </a:xfrm>
          <a:prstGeom prst="rect">
            <a:avLst/>
          </a:prstGeom>
          <a:noFill/>
        </p:spPr>
        <p:txBody>
          <a:bodyPr wrap="none">
            <a:spAutoFit/>
          </a:bodyPr>
          <a:lstStyle/>
          <a:p>
            <a:pPr>
              <a:defRPr sz="1600" b="1">
                <a:solidFill>
                  <a:srgbClr val="162A4A"/>
                </a:solidFill>
              </a:defRPr>
            </a:pPr>
            <a:r>
              <a:t>Length of stay</a:t>
            </a:r>
          </a:p>
        </p:txBody>
      </p:sp>
      <p:sp>
        <p:nvSpPr>
          <p:cNvPr id="12" name="TextBox 11"/>
          <p:cNvSpPr txBox="1"/>
          <p:nvPr/>
        </p:nvSpPr>
        <p:spPr>
          <a:xfrm>
            <a:off x="4526280" y="1984248"/>
            <a:ext cx="3108960" cy="1115568"/>
          </a:xfrm>
          <a:prstGeom prst="rect">
            <a:avLst/>
          </a:prstGeom>
          <a:noFill/>
        </p:spPr>
        <p:txBody>
          <a:bodyPr wrap="none">
            <a:spAutoFit/>
          </a:bodyPr>
          <a:lstStyle/>
          <a:p>
            <a:pPr>
              <a:defRPr sz="1250">
                <a:solidFill>
                  <a:srgbClr val="2A313A"/>
                </a:solidFill>
              </a:defRPr>
            </a:pPr>
            <a:r>
              <a:t>Average LOS is approximately 4.4 days</a:t>
            </a:r>
          </a:p>
        </p:txBody>
      </p:sp>
      <p:sp>
        <p:nvSpPr>
          <p:cNvPr id="13" name="Rounded Rectangle 12"/>
          <p:cNvSpPr/>
          <p:nvPr/>
        </p:nvSpPr>
        <p:spPr>
          <a:xfrm>
            <a:off x="8046719" y="1371600"/>
            <a:ext cx="3383280" cy="182880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19" y="1371600"/>
            <a:ext cx="64008" cy="1828800"/>
          </a:xfrm>
          <a:prstGeom prst="rect">
            <a:avLst/>
          </a:prstGeom>
          <a:solidFill>
            <a:srgbClr val="1C84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9" y="1508760"/>
            <a:ext cx="3108960" cy="384048"/>
          </a:xfrm>
          <a:prstGeom prst="rect">
            <a:avLst/>
          </a:prstGeom>
          <a:noFill/>
        </p:spPr>
        <p:txBody>
          <a:bodyPr wrap="none">
            <a:spAutoFit/>
          </a:bodyPr>
          <a:lstStyle/>
          <a:p>
            <a:pPr>
              <a:defRPr sz="1600" b="1">
                <a:solidFill>
                  <a:srgbClr val="162A4A"/>
                </a:solidFill>
              </a:defRPr>
            </a:pPr>
            <a:r>
              <a:t>Resource intensity</a:t>
            </a:r>
          </a:p>
        </p:txBody>
      </p:sp>
      <p:sp>
        <p:nvSpPr>
          <p:cNvPr id="16" name="TextBox 15"/>
          <p:cNvSpPr txBox="1"/>
          <p:nvPr/>
        </p:nvSpPr>
        <p:spPr>
          <a:xfrm>
            <a:off x="8229599" y="1984248"/>
            <a:ext cx="3108960" cy="1115568"/>
          </a:xfrm>
          <a:prstGeom prst="rect">
            <a:avLst/>
          </a:prstGeom>
          <a:noFill/>
        </p:spPr>
        <p:txBody>
          <a:bodyPr wrap="none">
            <a:spAutoFit/>
          </a:bodyPr>
          <a:lstStyle/>
          <a:p>
            <a:pPr>
              <a:defRPr sz="1250">
                <a:solidFill>
                  <a:srgbClr val="2A313A"/>
                </a:solidFill>
              </a:defRPr>
            </a:pPr>
            <a:r>
              <a:t>Average medication count ≈16; lab procedures ≈43 per encounter</a:t>
            </a:r>
          </a:p>
        </p:txBody>
      </p:sp>
      <p:sp>
        <p:nvSpPr>
          <p:cNvPr id="17" name="Rounded Rectangle 16"/>
          <p:cNvSpPr/>
          <p:nvPr/>
        </p:nvSpPr>
        <p:spPr>
          <a:xfrm>
            <a:off x="640080" y="3566160"/>
            <a:ext cx="3383280" cy="182880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3566160"/>
            <a:ext cx="64008" cy="1828800"/>
          </a:xfrm>
          <a:prstGeom prst="rect">
            <a:avLst/>
          </a:prstGeom>
          <a:solidFill>
            <a:srgbClr val="D67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3703320"/>
            <a:ext cx="3108960" cy="384048"/>
          </a:xfrm>
          <a:prstGeom prst="rect">
            <a:avLst/>
          </a:prstGeom>
          <a:noFill/>
        </p:spPr>
        <p:txBody>
          <a:bodyPr wrap="none">
            <a:spAutoFit/>
          </a:bodyPr>
          <a:lstStyle/>
          <a:p>
            <a:pPr>
              <a:defRPr sz="1600" b="1">
                <a:solidFill>
                  <a:srgbClr val="162A4A"/>
                </a:solidFill>
              </a:defRPr>
            </a:pPr>
            <a:r>
              <a:t>Payer gap</a:t>
            </a:r>
          </a:p>
        </p:txBody>
      </p:sp>
      <p:sp>
        <p:nvSpPr>
          <p:cNvPr id="20" name="TextBox 19"/>
          <p:cNvSpPr txBox="1"/>
          <p:nvPr/>
        </p:nvSpPr>
        <p:spPr>
          <a:xfrm>
            <a:off x="822959" y="4178808"/>
            <a:ext cx="3108960" cy="1115568"/>
          </a:xfrm>
          <a:prstGeom prst="rect">
            <a:avLst/>
          </a:prstGeom>
          <a:noFill/>
        </p:spPr>
        <p:txBody>
          <a:bodyPr wrap="none">
            <a:spAutoFit/>
          </a:bodyPr>
          <a:lstStyle/>
          <a:p>
            <a:pPr>
              <a:defRPr sz="1250">
                <a:solidFill>
                  <a:srgbClr val="2A313A"/>
                </a:solidFill>
              </a:defRPr>
            </a:pPr>
            <a:r>
              <a:t>≈39.6% of payer-code values are missing</a:t>
            </a:r>
          </a:p>
        </p:txBody>
      </p:sp>
      <p:sp>
        <p:nvSpPr>
          <p:cNvPr id="21" name="Rounded Rectangle 20"/>
          <p:cNvSpPr/>
          <p:nvPr/>
        </p:nvSpPr>
        <p:spPr>
          <a:xfrm>
            <a:off x="4343400" y="3566160"/>
            <a:ext cx="3383280" cy="182880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43400" y="3566160"/>
            <a:ext cx="64008" cy="1828800"/>
          </a:xfrm>
          <a:prstGeom prst="rect">
            <a:avLst/>
          </a:prstGeom>
          <a:solidFill>
            <a:srgbClr val="D67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6280" y="3703320"/>
            <a:ext cx="3108960" cy="384048"/>
          </a:xfrm>
          <a:prstGeom prst="rect">
            <a:avLst/>
          </a:prstGeom>
          <a:noFill/>
        </p:spPr>
        <p:txBody>
          <a:bodyPr wrap="none">
            <a:spAutoFit/>
          </a:bodyPr>
          <a:lstStyle/>
          <a:p>
            <a:pPr>
              <a:defRPr sz="1600" b="1">
                <a:solidFill>
                  <a:srgbClr val="162A4A"/>
                </a:solidFill>
              </a:defRPr>
            </a:pPr>
            <a:r>
              <a:t>Specialty gap</a:t>
            </a:r>
          </a:p>
        </p:txBody>
      </p:sp>
      <p:sp>
        <p:nvSpPr>
          <p:cNvPr id="24" name="TextBox 23"/>
          <p:cNvSpPr txBox="1"/>
          <p:nvPr/>
        </p:nvSpPr>
        <p:spPr>
          <a:xfrm>
            <a:off x="4526280" y="4178808"/>
            <a:ext cx="3108960" cy="1115568"/>
          </a:xfrm>
          <a:prstGeom prst="rect">
            <a:avLst/>
          </a:prstGeom>
          <a:noFill/>
        </p:spPr>
        <p:txBody>
          <a:bodyPr wrap="none">
            <a:spAutoFit/>
          </a:bodyPr>
          <a:lstStyle/>
          <a:p>
            <a:pPr>
              <a:defRPr sz="1250">
                <a:solidFill>
                  <a:srgbClr val="2A313A"/>
                </a:solidFill>
              </a:defRPr>
            </a:pPr>
            <a:r>
              <a:t>≈49.1% of medical-specialty values are missing</a:t>
            </a:r>
          </a:p>
        </p:txBody>
      </p:sp>
      <p:sp>
        <p:nvSpPr>
          <p:cNvPr id="25" name="Rounded Rectangle 24"/>
          <p:cNvSpPr/>
          <p:nvPr/>
        </p:nvSpPr>
        <p:spPr>
          <a:xfrm>
            <a:off x="8046719" y="3566160"/>
            <a:ext cx="3383280" cy="182880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46719" y="3566160"/>
            <a:ext cx="64008" cy="1828800"/>
          </a:xfrm>
          <a:prstGeom prst="rect">
            <a:avLst/>
          </a:prstGeom>
          <a:solidFill>
            <a:srgbClr val="B8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599" y="3703320"/>
            <a:ext cx="3108960" cy="384048"/>
          </a:xfrm>
          <a:prstGeom prst="rect">
            <a:avLst/>
          </a:prstGeom>
          <a:noFill/>
        </p:spPr>
        <p:txBody>
          <a:bodyPr wrap="none">
            <a:spAutoFit/>
          </a:bodyPr>
          <a:lstStyle/>
          <a:p>
            <a:pPr>
              <a:defRPr sz="1600" b="1">
                <a:solidFill>
                  <a:srgbClr val="162A4A"/>
                </a:solidFill>
              </a:defRPr>
            </a:pPr>
            <a:r>
              <a:t>Financial gap</a:t>
            </a:r>
          </a:p>
        </p:txBody>
      </p:sp>
      <p:sp>
        <p:nvSpPr>
          <p:cNvPr id="28" name="TextBox 27"/>
          <p:cNvSpPr txBox="1"/>
          <p:nvPr/>
        </p:nvSpPr>
        <p:spPr>
          <a:xfrm>
            <a:off x="8229599" y="4178808"/>
            <a:ext cx="3108960" cy="1115568"/>
          </a:xfrm>
          <a:prstGeom prst="rect">
            <a:avLst/>
          </a:prstGeom>
          <a:noFill/>
        </p:spPr>
        <p:txBody>
          <a:bodyPr wrap="none">
            <a:spAutoFit/>
          </a:bodyPr>
          <a:lstStyle/>
          <a:p>
            <a:pPr>
              <a:defRPr sz="1250">
                <a:solidFill>
                  <a:srgbClr val="2A313A"/>
                </a:solidFill>
              </a:defRPr>
            </a:pPr>
            <a:r>
              <a:t>No charge, payment, claim, denial or cost fields</a:t>
            </a:r>
          </a:p>
        </p:txBody>
      </p:sp>
      <p:sp>
        <p:nvSpPr>
          <p:cNvPr id="29" name="TextBox 28"/>
          <p:cNvSpPr txBox="1"/>
          <p:nvPr/>
        </p:nvSpPr>
        <p:spPr>
          <a:xfrm>
            <a:off x="594360" y="6473952"/>
            <a:ext cx="10972800" cy="182880"/>
          </a:xfrm>
          <a:prstGeom prst="rect">
            <a:avLst/>
          </a:prstGeom>
          <a:noFill/>
        </p:spPr>
        <p:txBody>
          <a:bodyPr wrap="none">
            <a:spAutoFit/>
          </a:bodyPr>
          <a:lstStyle/>
          <a:p>
            <a:pPr>
              <a:defRPr sz="800">
                <a:solidFill>
                  <a:srgbClr val="646E78"/>
                </a:solidFill>
              </a:defRPr>
            </a:pPr>
            <a:r>
              <a:t>Hospital Revenue &amp; Cost Operations | Executive Discussion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pPr>
              <a:defRPr sz="2800" b="1">
                <a:solidFill>
                  <a:srgbClr val="162A4A"/>
                </a:solidFill>
              </a:defRPr>
            </a:pPr>
            <a:r>
              <a:t>Critical data required</a:t>
            </a:r>
          </a:p>
        </p:txBody>
      </p:sp>
      <p:sp>
        <p:nvSpPr>
          <p:cNvPr id="4" name="TextBox 3"/>
          <p:cNvSpPr txBox="1"/>
          <p:nvPr/>
        </p:nvSpPr>
        <p:spPr>
          <a:xfrm>
            <a:off x="621792" y="932688"/>
            <a:ext cx="10789920" cy="365760"/>
          </a:xfrm>
          <a:prstGeom prst="rect">
            <a:avLst/>
          </a:prstGeom>
          <a:noFill/>
        </p:spPr>
        <p:txBody>
          <a:bodyPr wrap="none">
            <a:spAutoFit/>
          </a:bodyPr>
          <a:lstStyle/>
          <a:p>
            <a:pPr>
              <a:defRPr sz="1300">
                <a:solidFill>
                  <a:srgbClr val="646E78"/>
                </a:solidFill>
              </a:defRPr>
            </a:pPr>
            <a:r>
              <a:t>Build an encounter-level financial and operational data model</a:t>
            </a:r>
          </a:p>
        </p:txBody>
      </p:sp>
      <p:sp>
        <p:nvSpPr>
          <p:cNvPr id="5" name="Rounded Rectangle 4"/>
          <p:cNvSpPr/>
          <p:nvPr/>
        </p:nvSpPr>
        <p:spPr>
          <a:xfrm>
            <a:off x="640080" y="1325880"/>
            <a:ext cx="3474720" cy="434340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325880"/>
            <a:ext cx="64008" cy="4343400"/>
          </a:xfrm>
          <a:prstGeom prst="rect">
            <a:avLst/>
          </a:prstGeom>
          <a:solidFill>
            <a:srgbClr val="B8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463039"/>
            <a:ext cx="3200400" cy="384048"/>
          </a:xfrm>
          <a:prstGeom prst="rect">
            <a:avLst/>
          </a:prstGeom>
          <a:noFill/>
        </p:spPr>
        <p:txBody>
          <a:bodyPr wrap="none">
            <a:spAutoFit/>
          </a:bodyPr>
          <a:lstStyle/>
          <a:p>
            <a:pPr>
              <a:defRPr sz="1600" b="1">
                <a:solidFill>
                  <a:srgbClr val="162A4A"/>
                </a:solidFill>
              </a:defRPr>
            </a:pPr>
            <a:r>
              <a:t>Revenue &amp; claims</a:t>
            </a:r>
          </a:p>
        </p:txBody>
      </p:sp>
      <p:sp>
        <p:nvSpPr>
          <p:cNvPr id="8" name="TextBox 7"/>
          <p:cNvSpPr txBox="1"/>
          <p:nvPr/>
        </p:nvSpPr>
        <p:spPr>
          <a:xfrm>
            <a:off x="822959" y="1938528"/>
            <a:ext cx="3200400" cy="3630168"/>
          </a:xfrm>
          <a:prstGeom prst="rect">
            <a:avLst/>
          </a:prstGeom>
          <a:noFill/>
        </p:spPr>
        <p:txBody>
          <a:bodyPr wrap="none">
            <a:spAutoFit/>
          </a:bodyPr>
          <a:lstStyle/>
          <a:p>
            <a:pPr>
              <a:defRPr sz="1250">
                <a:solidFill>
                  <a:srgbClr val="2A313A"/>
                </a:solidFill>
              </a:defRPr>
            </a:pPr>
            <a:r>
              <a:t>Gross charges</a:t>
            </a:r>
            <a:br/>
            <a:r>
              <a:t>Allowed amount</a:t>
            </a:r>
            <a:br/>
            <a:r>
              <a:t>Net revenue</a:t>
            </a:r>
            <a:br/>
            <a:r>
              <a:t>Payment</a:t>
            </a:r>
            <a:br/>
            <a:r>
              <a:t>Patient responsibility</a:t>
            </a:r>
            <a:br/>
            <a:r>
              <a:t>Denials</a:t>
            </a:r>
            <a:br/>
            <a:r>
              <a:t>Adjustments / write-offs</a:t>
            </a:r>
            <a:br/>
            <a:r>
              <a:t>CPT / HCPCS</a:t>
            </a:r>
            <a:br/>
            <a:r>
              <a:t>DRG</a:t>
            </a:r>
            <a:br/>
            <a:r>
              <a:t>Claim status</a:t>
            </a:r>
            <a:br/>
            <a:r>
              <a:t>Authorization</a:t>
            </a:r>
            <a:br/>
            <a:r>
              <a:t>Payer contract</a:t>
            </a:r>
          </a:p>
        </p:txBody>
      </p:sp>
      <p:sp>
        <p:nvSpPr>
          <p:cNvPr id="9" name="Rounded Rectangle 8"/>
          <p:cNvSpPr/>
          <p:nvPr/>
        </p:nvSpPr>
        <p:spPr>
          <a:xfrm>
            <a:off x="4343400" y="1325880"/>
            <a:ext cx="3474720" cy="434340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1325880"/>
            <a:ext cx="64008" cy="4343400"/>
          </a:xfrm>
          <a:prstGeom prst="rect">
            <a:avLst/>
          </a:prstGeom>
          <a:solidFill>
            <a:srgbClr val="D67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463039"/>
            <a:ext cx="3200400" cy="384048"/>
          </a:xfrm>
          <a:prstGeom prst="rect">
            <a:avLst/>
          </a:prstGeom>
          <a:noFill/>
        </p:spPr>
        <p:txBody>
          <a:bodyPr wrap="none">
            <a:spAutoFit/>
          </a:bodyPr>
          <a:lstStyle/>
          <a:p>
            <a:pPr>
              <a:defRPr sz="1600" b="1">
                <a:solidFill>
                  <a:srgbClr val="162A4A"/>
                </a:solidFill>
              </a:defRPr>
            </a:pPr>
            <a:r>
              <a:t>Cost &amp; resources</a:t>
            </a:r>
          </a:p>
        </p:txBody>
      </p:sp>
      <p:sp>
        <p:nvSpPr>
          <p:cNvPr id="12" name="TextBox 11"/>
          <p:cNvSpPr txBox="1"/>
          <p:nvPr/>
        </p:nvSpPr>
        <p:spPr>
          <a:xfrm>
            <a:off x="4526280" y="1938528"/>
            <a:ext cx="3200400" cy="3630168"/>
          </a:xfrm>
          <a:prstGeom prst="rect">
            <a:avLst/>
          </a:prstGeom>
          <a:noFill/>
        </p:spPr>
        <p:txBody>
          <a:bodyPr wrap="none">
            <a:spAutoFit/>
          </a:bodyPr>
          <a:lstStyle/>
          <a:p>
            <a:pPr>
              <a:defRPr sz="1250">
                <a:solidFill>
                  <a:srgbClr val="2A313A"/>
                </a:solidFill>
              </a:defRPr>
            </a:pPr>
            <a:r>
              <a:t>Staff hours / cost</a:t>
            </a:r>
            <a:br/>
            <a:r>
              <a:t>Bed-day cost</a:t>
            </a:r>
            <a:br/>
            <a:r>
              <a:t>Pharmacy acquisition cost</a:t>
            </a:r>
            <a:br/>
            <a:r>
              <a:t>Lab test cost</a:t>
            </a:r>
            <a:br/>
            <a:r>
              <a:t>Procedure cost</a:t>
            </a:r>
            <a:br/>
            <a:r>
              <a:t>Consumables</a:t>
            </a:r>
            <a:br/>
            <a:r>
              <a:t>Equipment utilization</a:t>
            </a:r>
            <a:br/>
            <a:r>
              <a:t>Facility overhead</a:t>
            </a:r>
            <a:br/>
            <a:r>
              <a:t>Agency / overtime cost</a:t>
            </a:r>
          </a:p>
        </p:txBody>
      </p:sp>
      <p:sp>
        <p:nvSpPr>
          <p:cNvPr id="13" name="Rounded Rectangle 12"/>
          <p:cNvSpPr/>
          <p:nvPr/>
        </p:nvSpPr>
        <p:spPr>
          <a:xfrm>
            <a:off x="8046720" y="1325880"/>
            <a:ext cx="3474720" cy="434340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20" y="1325880"/>
            <a:ext cx="64008" cy="4343400"/>
          </a:xfrm>
          <a:prstGeom prst="rect">
            <a:avLst/>
          </a:prstGeom>
          <a:solidFill>
            <a:srgbClr val="2C5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463039"/>
            <a:ext cx="3200400" cy="384048"/>
          </a:xfrm>
          <a:prstGeom prst="rect">
            <a:avLst/>
          </a:prstGeom>
          <a:noFill/>
        </p:spPr>
        <p:txBody>
          <a:bodyPr wrap="none">
            <a:spAutoFit/>
          </a:bodyPr>
          <a:lstStyle/>
          <a:p>
            <a:pPr>
              <a:defRPr sz="1600" b="1">
                <a:solidFill>
                  <a:srgbClr val="162A4A"/>
                </a:solidFill>
              </a:defRPr>
            </a:pPr>
            <a:r>
              <a:t>Time &amp; workflow</a:t>
            </a:r>
          </a:p>
        </p:txBody>
      </p:sp>
      <p:sp>
        <p:nvSpPr>
          <p:cNvPr id="16" name="TextBox 15"/>
          <p:cNvSpPr txBox="1"/>
          <p:nvPr/>
        </p:nvSpPr>
        <p:spPr>
          <a:xfrm>
            <a:off x="8229600" y="1938528"/>
            <a:ext cx="3200400" cy="3630168"/>
          </a:xfrm>
          <a:prstGeom prst="rect">
            <a:avLst/>
          </a:prstGeom>
          <a:noFill/>
        </p:spPr>
        <p:txBody>
          <a:bodyPr wrap="none">
            <a:spAutoFit/>
          </a:bodyPr>
          <a:lstStyle/>
          <a:p>
            <a:pPr>
              <a:defRPr sz="1250">
                <a:solidFill>
                  <a:srgbClr val="2A313A"/>
                </a:solidFill>
              </a:defRPr>
            </a:pPr>
            <a:r>
              <a:t>Registration time</a:t>
            </a:r>
            <a:br/>
            <a:r>
              <a:t>Consultation time</a:t>
            </a:r>
            <a:br/>
            <a:r>
              <a:t>Lab turnaround</a:t>
            </a:r>
            <a:br/>
            <a:r>
              <a:t>Admission time</a:t>
            </a:r>
            <a:br/>
            <a:r>
              <a:t>Bed assignment</a:t>
            </a:r>
            <a:br/>
            <a:r>
              <a:t>Procedure time</a:t>
            </a:r>
            <a:br/>
            <a:r>
              <a:t>Discharge time</a:t>
            </a:r>
            <a:br/>
            <a:r>
              <a:t>Billing time</a:t>
            </a:r>
            <a:br/>
            <a:r>
              <a:t>Claim submission</a:t>
            </a:r>
            <a:br/>
            <a:r>
              <a:t>Payment date</a:t>
            </a:r>
          </a:p>
        </p:txBody>
      </p:sp>
      <p:sp>
        <p:nvSpPr>
          <p:cNvPr id="17" name="TextBox 16"/>
          <p:cNvSpPr txBox="1"/>
          <p:nvPr/>
        </p:nvSpPr>
        <p:spPr>
          <a:xfrm>
            <a:off x="594360" y="6473952"/>
            <a:ext cx="10972800" cy="182880"/>
          </a:xfrm>
          <a:prstGeom prst="rect">
            <a:avLst/>
          </a:prstGeom>
          <a:noFill/>
        </p:spPr>
        <p:txBody>
          <a:bodyPr wrap="none">
            <a:spAutoFit/>
          </a:bodyPr>
          <a:lstStyle/>
          <a:p>
            <a:pPr>
              <a:defRPr sz="800">
                <a:solidFill>
                  <a:srgbClr val="646E78"/>
                </a:solidFill>
              </a:defRPr>
            </a:pPr>
            <a:r>
              <a:t>Hospital Revenue &amp; Cost Operations | Executive Discussion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pPr>
              <a:defRPr sz="2800" b="1">
                <a:solidFill>
                  <a:srgbClr val="162A4A"/>
                </a:solidFill>
              </a:defRPr>
            </a:pPr>
            <a:r>
              <a:t>Target operating model</a:t>
            </a:r>
          </a:p>
        </p:txBody>
      </p:sp>
      <p:sp>
        <p:nvSpPr>
          <p:cNvPr id="4" name="TextBox 3"/>
          <p:cNvSpPr txBox="1"/>
          <p:nvPr/>
        </p:nvSpPr>
        <p:spPr>
          <a:xfrm>
            <a:off x="621792" y="932688"/>
            <a:ext cx="10789920" cy="365760"/>
          </a:xfrm>
          <a:prstGeom prst="rect">
            <a:avLst/>
          </a:prstGeom>
          <a:noFill/>
        </p:spPr>
        <p:txBody>
          <a:bodyPr wrap="none">
            <a:spAutoFit/>
          </a:bodyPr>
          <a:lstStyle/>
          <a:p>
            <a:pPr>
              <a:defRPr sz="1300">
                <a:solidFill>
                  <a:srgbClr val="646E78"/>
                </a:solidFill>
              </a:defRPr>
            </a:pPr>
            <a:r>
              <a:t>One view of patient, clinical, financial and operational performance</a:t>
            </a:r>
          </a:p>
        </p:txBody>
      </p:sp>
      <p:sp>
        <p:nvSpPr>
          <p:cNvPr id="5" name="Rounded Rectangle 4"/>
          <p:cNvSpPr/>
          <p:nvPr/>
        </p:nvSpPr>
        <p:spPr>
          <a:xfrm>
            <a:off x="502920" y="2057400"/>
            <a:ext cx="1600200" cy="141732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2267712"/>
            <a:ext cx="1417320" cy="914400"/>
          </a:xfrm>
          <a:prstGeom prst="rect">
            <a:avLst/>
          </a:prstGeom>
          <a:noFill/>
        </p:spPr>
        <p:txBody>
          <a:bodyPr wrap="none">
            <a:spAutoFit/>
          </a:bodyPr>
          <a:lstStyle/>
          <a:p>
            <a:pPr algn="ctr">
              <a:defRPr sz="1500" b="1">
                <a:solidFill>
                  <a:srgbClr val="162A4A"/>
                </a:solidFill>
              </a:defRPr>
            </a:pPr>
            <a:r>
              <a:t>Patient</a:t>
            </a:r>
          </a:p>
          <a:p>
            <a:pPr algn="ctr">
              <a:defRPr sz="1000">
                <a:solidFill>
                  <a:srgbClr val="2A313A"/>
                </a:solidFill>
              </a:defRPr>
            </a:pPr>
            <a:r>
              <a:t>Patient &amp; encounter</a:t>
            </a:r>
          </a:p>
        </p:txBody>
      </p:sp>
      <p:sp>
        <p:nvSpPr>
          <p:cNvPr id="7" name="TextBox 6"/>
          <p:cNvSpPr txBox="1"/>
          <p:nvPr/>
        </p:nvSpPr>
        <p:spPr>
          <a:xfrm>
            <a:off x="2130552" y="2487168"/>
            <a:ext cx="274320" cy="365760"/>
          </a:xfrm>
          <a:prstGeom prst="rect">
            <a:avLst/>
          </a:prstGeom>
          <a:noFill/>
        </p:spPr>
        <p:txBody>
          <a:bodyPr wrap="none">
            <a:spAutoFit/>
          </a:bodyPr>
          <a:lstStyle/>
          <a:p>
            <a:pPr>
              <a:defRPr sz="2200" b="1">
                <a:solidFill>
                  <a:srgbClr val="2C5FA0"/>
                </a:solidFill>
              </a:defRPr>
            </a:pPr>
            <a:r>
              <a:t>→</a:t>
            </a:r>
          </a:p>
        </p:txBody>
      </p:sp>
      <p:sp>
        <p:nvSpPr>
          <p:cNvPr id="8" name="Rounded Rectangle 7"/>
          <p:cNvSpPr/>
          <p:nvPr/>
        </p:nvSpPr>
        <p:spPr>
          <a:xfrm>
            <a:off x="2441448" y="2057400"/>
            <a:ext cx="1600200" cy="141732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32888" y="2267712"/>
            <a:ext cx="1417320" cy="914400"/>
          </a:xfrm>
          <a:prstGeom prst="rect">
            <a:avLst/>
          </a:prstGeom>
          <a:noFill/>
        </p:spPr>
        <p:txBody>
          <a:bodyPr wrap="none">
            <a:spAutoFit/>
          </a:bodyPr>
          <a:lstStyle/>
          <a:p>
            <a:pPr algn="ctr">
              <a:defRPr sz="1500" b="1">
                <a:solidFill>
                  <a:srgbClr val="162A4A"/>
                </a:solidFill>
              </a:defRPr>
            </a:pPr>
            <a:r>
              <a:t>Clinical</a:t>
            </a:r>
          </a:p>
          <a:p>
            <a:pPr algn="ctr">
              <a:defRPr sz="1000">
                <a:solidFill>
                  <a:srgbClr val="2A313A"/>
                </a:solidFill>
              </a:defRPr>
            </a:pPr>
            <a:r>
              <a:t>Diagnosis / services</a:t>
            </a:r>
          </a:p>
        </p:txBody>
      </p:sp>
      <p:sp>
        <p:nvSpPr>
          <p:cNvPr id="10" name="TextBox 9"/>
          <p:cNvSpPr txBox="1"/>
          <p:nvPr/>
        </p:nvSpPr>
        <p:spPr>
          <a:xfrm>
            <a:off x="4069080" y="2487168"/>
            <a:ext cx="274320" cy="365760"/>
          </a:xfrm>
          <a:prstGeom prst="rect">
            <a:avLst/>
          </a:prstGeom>
          <a:noFill/>
        </p:spPr>
        <p:txBody>
          <a:bodyPr wrap="none">
            <a:spAutoFit/>
          </a:bodyPr>
          <a:lstStyle/>
          <a:p>
            <a:pPr>
              <a:defRPr sz="2200" b="1">
                <a:solidFill>
                  <a:srgbClr val="2C5FA0"/>
                </a:solidFill>
              </a:defRPr>
            </a:pPr>
            <a:r>
              <a:t>→</a:t>
            </a:r>
          </a:p>
        </p:txBody>
      </p:sp>
      <p:sp>
        <p:nvSpPr>
          <p:cNvPr id="11" name="Rounded Rectangle 10"/>
          <p:cNvSpPr/>
          <p:nvPr/>
        </p:nvSpPr>
        <p:spPr>
          <a:xfrm>
            <a:off x="4379976" y="2057400"/>
            <a:ext cx="1600200" cy="141732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71416" y="2267712"/>
            <a:ext cx="1417320" cy="914400"/>
          </a:xfrm>
          <a:prstGeom prst="rect">
            <a:avLst/>
          </a:prstGeom>
          <a:noFill/>
        </p:spPr>
        <p:txBody>
          <a:bodyPr wrap="none">
            <a:spAutoFit/>
          </a:bodyPr>
          <a:lstStyle/>
          <a:p>
            <a:pPr algn="ctr">
              <a:defRPr sz="1500" b="1">
                <a:solidFill>
                  <a:srgbClr val="162A4A"/>
                </a:solidFill>
              </a:defRPr>
            </a:pPr>
            <a:r>
              <a:t>Revenue</a:t>
            </a:r>
          </a:p>
          <a:p>
            <a:pPr algn="ctr">
              <a:defRPr sz="1000">
                <a:solidFill>
                  <a:srgbClr val="2A313A"/>
                </a:solidFill>
              </a:defRPr>
            </a:pPr>
            <a:r>
              <a:t>Charge → claim → payment</a:t>
            </a:r>
          </a:p>
        </p:txBody>
      </p:sp>
      <p:sp>
        <p:nvSpPr>
          <p:cNvPr id="13" name="TextBox 12"/>
          <p:cNvSpPr txBox="1"/>
          <p:nvPr/>
        </p:nvSpPr>
        <p:spPr>
          <a:xfrm>
            <a:off x="6007608" y="2487168"/>
            <a:ext cx="274320" cy="365760"/>
          </a:xfrm>
          <a:prstGeom prst="rect">
            <a:avLst/>
          </a:prstGeom>
          <a:noFill/>
        </p:spPr>
        <p:txBody>
          <a:bodyPr wrap="none">
            <a:spAutoFit/>
          </a:bodyPr>
          <a:lstStyle/>
          <a:p>
            <a:pPr>
              <a:defRPr sz="2200" b="1">
                <a:solidFill>
                  <a:srgbClr val="2C5FA0"/>
                </a:solidFill>
              </a:defRPr>
            </a:pPr>
            <a:r>
              <a:t>→</a:t>
            </a:r>
          </a:p>
        </p:txBody>
      </p:sp>
      <p:sp>
        <p:nvSpPr>
          <p:cNvPr id="14" name="Rounded Rectangle 13"/>
          <p:cNvSpPr/>
          <p:nvPr/>
        </p:nvSpPr>
        <p:spPr>
          <a:xfrm>
            <a:off x="6318504" y="2057400"/>
            <a:ext cx="1600200" cy="141732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2267712"/>
            <a:ext cx="1417320" cy="914400"/>
          </a:xfrm>
          <a:prstGeom prst="rect">
            <a:avLst/>
          </a:prstGeom>
          <a:noFill/>
        </p:spPr>
        <p:txBody>
          <a:bodyPr wrap="none">
            <a:spAutoFit/>
          </a:bodyPr>
          <a:lstStyle/>
          <a:p>
            <a:pPr algn="ctr">
              <a:defRPr sz="1500" b="1">
                <a:solidFill>
                  <a:srgbClr val="162A4A"/>
                </a:solidFill>
              </a:defRPr>
            </a:pPr>
            <a:r>
              <a:t>Cost</a:t>
            </a:r>
          </a:p>
          <a:p>
            <a:pPr algn="ctr">
              <a:defRPr sz="1000">
                <a:solidFill>
                  <a:srgbClr val="2A313A"/>
                </a:solidFill>
              </a:defRPr>
            </a:pPr>
            <a:r>
              <a:t>Resources → direct cost</a:t>
            </a:r>
          </a:p>
        </p:txBody>
      </p:sp>
      <p:sp>
        <p:nvSpPr>
          <p:cNvPr id="16" name="TextBox 15"/>
          <p:cNvSpPr txBox="1"/>
          <p:nvPr/>
        </p:nvSpPr>
        <p:spPr>
          <a:xfrm>
            <a:off x="7946136" y="2487168"/>
            <a:ext cx="274320" cy="365760"/>
          </a:xfrm>
          <a:prstGeom prst="rect">
            <a:avLst/>
          </a:prstGeom>
          <a:noFill/>
        </p:spPr>
        <p:txBody>
          <a:bodyPr wrap="none">
            <a:spAutoFit/>
          </a:bodyPr>
          <a:lstStyle/>
          <a:p>
            <a:pPr>
              <a:defRPr sz="2200" b="1">
                <a:solidFill>
                  <a:srgbClr val="2C5FA0"/>
                </a:solidFill>
              </a:defRPr>
            </a:pPr>
            <a:r>
              <a:t>→</a:t>
            </a:r>
          </a:p>
        </p:txBody>
      </p:sp>
      <p:sp>
        <p:nvSpPr>
          <p:cNvPr id="17" name="Rounded Rectangle 16"/>
          <p:cNvSpPr/>
          <p:nvPr/>
        </p:nvSpPr>
        <p:spPr>
          <a:xfrm>
            <a:off x="8257032" y="2057400"/>
            <a:ext cx="1600200" cy="141732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48472" y="2267712"/>
            <a:ext cx="1417320" cy="914400"/>
          </a:xfrm>
          <a:prstGeom prst="rect">
            <a:avLst/>
          </a:prstGeom>
          <a:noFill/>
        </p:spPr>
        <p:txBody>
          <a:bodyPr wrap="none">
            <a:spAutoFit/>
          </a:bodyPr>
          <a:lstStyle/>
          <a:p>
            <a:pPr algn="ctr">
              <a:defRPr sz="1500" b="1">
                <a:solidFill>
                  <a:srgbClr val="162A4A"/>
                </a:solidFill>
              </a:defRPr>
            </a:pPr>
            <a:r>
              <a:t>Analytics</a:t>
            </a:r>
          </a:p>
          <a:p>
            <a:pPr algn="ctr">
              <a:defRPr sz="1000">
                <a:solidFill>
                  <a:srgbClr val="2A313A"/>
                </a:solidFill>
              </a:defRPr>
            </a:pPr>
            <a:r>
              <a:t>Margin / efficiency</a:t>
            </a:r>
          </a:p>
        </p:txBody>
      </p:sp>
      <p:sp>
        <p:nvSpPr>
          <p:cNvPr id="19" name="TextBox 18"/>
          <p:cNvSpPr txBox="1"/>
          <p:nvPr/>
        </p:nvSpPr>
        <p:spPr>
          <a:xfrm>
            <a:off x="9884664" y="2487168"/>
            <a:ext cx="274320" cy="365760"/>
          </a:xfrm>
          <a:prstGeom prst="rect">
            <a:avLst/>
          </a:prstGeom>
          <a:noFill/>
        </p:spPr>
        <p:txBody>
          <a:bodyPr wrap="none">
            <a:spAutoFit/>
          </a:bodyPr>
          <a:lstStyle/>
          <a:p>
            <a:pPr>
              <a:defRPr sz="2200" b="1">
                <a:solidFill>
                  <a:srgbClr val="2C5FA0"/>
                </a:solidFill>
              </a:defRPr>
            </a:pPr>
            <a:r>
              <a:t>→</a:t>
            </a:r>
          </a:p>
        </p:txBody>
      </p:sp>
      <p:sp>
        <p:nvSpPr>
          <p:cNvPr id="20" name="Rounded Rectangle 19"/>
          <p:cNvSpPr/>
          <p:nvPr/>
        </p:nvSpPr>
        <p:spPr>
          <a:xfrm>
            <a:off x="10195560" y="2057400"/>
            <a:ext cx="1600200" cy="1417320"/>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87000" y="2267712"/>
            <a:ext cx="1417320" cy="914400"/>
          </a:xfrm>
          <a:prstGeom prst="rect">
            <a:avLst/>
          </a:prstGeom>
          <a:noFill/>
        </p:spPr>
        <p:txBody>
          <a:bodyPr wrap="none">
            <a:spAutoFit/>
          </a:bodyPr>
          <a:lstStyle/>
          <a:p>
            <a:pPr algn="ctr">
              <a:defRPr sz="1500" b="1">
                <a:solidFill>
                  <a:srgbClr val="162A4A"/>
                </a:solidFill>
              </a:defRPr>
            </a:pPr>
            <a:r>
              <a:t>Action</a:t>
            </a:r>
          </a:p>
          <a:p>
            <a:pPr algn="ctr">
              <a:defRPr sz="1000">
                <a:solidFill>
                  <a:srgbClr val="2A313A"/>
                </a:solidFill>
              </a:defRPr>
            </a:pPr>
            <a:r>
              <a:t>Intervention → measure</a:t>
            </a:r>
          </a:p>
        </p:txBody>
      </p:sp>
      <p:sp>
        <p:nvSpPr>
          <p:cNvPr id="22" name="TextBox 21"/>
          <p:cNvSpPr txBox="1"/>
          <p:nvPr/>
        </p:nvSpPr>
        <p:spPr>
          <a:xfrm>
            <a:off x="731520" y="4160520"/>
            <a:ext cx="10698480" cy="1554480"/>
          </a:xfrm>
          <a:prstGeom prst="rect">
            <a:avLst/>
          </a:prstGeom>
          <a:noFill/>
        </p:spPr>
        <p:txBody>
          <a:bodyPr wrap="square">
            <a:spAutoFit/>
          </a:bodyPr>
          <a:lstStyle/>
          <a:p>
            <a:pPr>
              <a:spcAft>
                <a:spcPts val="1200"/>
              </a:spcAft>
              <a:defRPr sz="1700">
                <a:solidFill>
                  <a:srgbClr val="2A313A"/>
                </a:solidFill>
              </a:defRPr>
            </a:pPr>
            <a:r>
              <a:t>Single encounter-level model</a:t>
            </a:r>
          </a:p>
          <a:p>
            <a:pPr>
              <a:spcAft>
                <a:spcPts val="1200"/>
              </a:spcAft>
              <a:defRPr sz="1700">
                <a:solidFill>
                  <a:srgbClr val="2A313A"/>
                </a:solidFill>
              </a:defRPr>
            </a:pPr>
            <a:r>
              <a:t>Executive dashboard + operational worklists</a:t>
            </a:r>
          </a:p>
          <a:p>
            <a:pPr>
              <a:spcAft>
                <a:spcPts val="1200"/>
              </a:spcAft>
              <a:defRPr sz="1700">
                <a:solidFill>
                  <a:srgbClr val="2A313A"/>
                </a:solidFill>
              </a:defRPr>
            </a:pPr>
            <a:r>
              <a:t>Closed-loop measurement of revenue, cost, quality and patient outcomes</a:t>
            </a:r>
          </a:p>
        </p:txBody>
      </p:sp>
      <p:sp>
        <p:nvSpPr>
          <p:cNvPr id="23" name="TextBox 22"/>
          <p:cNvSpPr txBox="1"/>
          <p:nvPr/>
        </p:nvSpPr>
        <p:spPr>
          <a:xfrm>
            <a:off x="594360" y="6473952"/>
            <a:ext cx="10972800" cy="182880"/>
          </a:xfrm>
          <a:prstGeom prst="rect">
            <a:avLst/>
          </a:prstGeom>
          <a:noFill/>
        </p:spPr>
        <p:txBody>
          <a:bodyPr wrap="none">
            <a:spAutoFit/>
          </a:bodyPr>
          <a:lstStyle/>
          <a:p>
            <a:pPr>
              <a:defRPr sz="800">
                <a:solidFill>
                  <a:srgbClr val="646E78"/>
                </a:solidFill>
              </a:defRPr>
            </a:pPr>
            <a:r>
              <a:t>Hospital Revenue &amp; Cost Operations | Executive Discussion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640080"/>
          </a:xfrm>
          <a:prstGeom prst="rect">
            <a:avLst/>
          </a:prstGeom>
          <a:noFill/>
        </p:spPr>
        <p:txBody>
          <a:bodyPr wrap="none">
            <a:spAutoFit/>
          </a:bodyPr>
          <a:lstStyle/>
          <a:p>
            <a:pPr>
              <a:defRPr sz="2800" b="1">
                <a:solidFill>
                  <a:srgbClr val="162A4A"/>
                </a:solidFill>
              </a:defRPr>
            </a:pPr>
            <a:r>
              <a:t>Executive KPI framework</a:t>
            </a:r>
          </a:p>
        </p:txBody>
      </p:sp>
      <p:sp>
        <p:nvSpPr>
          <p:cNvPr id="4" name="TextBox 3"/>
          <p:cNvSpPr txBox="1"/>
          <p:nvPr/>
        </p:nvSpPr>
        <p:spPr>
          <a:xfrm>
            <a:off x="621792" y="932688"/>
            <a:ext cx="10789920" cy="365760"/>
          </a:xfrm>
          <a:prstGeom prst="rect">
            <a:avLst/>
          </a:prstGeom>
          <a:noFill/>
        </p:spPr>
        <p:txBody>
          <a:bodyPr wrap="none">
            <a:spAutoFit/>
          </a:bodyPr>
          <a:lstStyle/>
          <a:p>
            <a:pPr>
              <a:defRPr sz="1300">
                <a:solidFill>
                  <a:srgbClr val="646E78"/>
                </a:solidFill>
              </a:defRPr>
            </a:pPr>
            <a:r>
              <a:t>The dashboard should answer five questions</a:t>
            </a:r>
          </a:p>
        </p:txBody>
      </p:sp>
      <p:sp>
        <p:nvSpPr>
          <p:cNvPr id="5" name="Rounded Rectangle 4"/>
          <p:cNvSpPr/>
          <p:nvPr/>
        </p:nvSpPr>
        <p:spPr>
          <a:xfrm>
            <a:off x="640080" y="1325880"/>
            <a:ext cx="3383280" cy="1874519"/>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325880"/>
            <a:ext cx="64008" cy="1874519"/>
          </a:xfrm>
          <a:prstGeom prst="rect">
            <a:avLst/>
          </a:prstGeom>
          <a:solidFill>
            <a:srgbClr val="2C5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463039"/>
            <a:ext cx="3108960" cy="384048"/>
          </a:xfrm>
          <a:prstGeom prst="rect">
            <a:avLst/>
          </a:prstGeom>
          <a:noFill/>
        </p:spPr>
        <p:txBody>
          <a:bodyPr wrap="none">
            <a:spAutoFit/>
          </a:bodyPr>
          <a:lstStyle/>
          <a:p>
            <a:pPr>
              <a:defRPr sz="1600" b="1">
                <a:solidFill>
                  <a:srgbClr val="162A4A"/>
                </a:solidFill>
              </a:defRPr>
            </a:pPr>
            <a:r>
              <a:t>Are we growing revenue?</a:t>
            </a:r>
          </a:p>
        </p:txBody>
      </p:sp>
      <p:sp>
        <p:nvSpPr>
          <p:cNvPr id="8" name="TextBox 7"/>
          <p:cNvSpPr txBox="1"/>
          <p:nvPr/>
        </p:nvSpPr>
        <p:spPr>
          <a:xfrm>
            <a:off x="822959" y="1938528"/>
            <a:ext cx="3108960" cy="1161287"/>
          </a:xfrm>
          <a:prstGeom prst="rect">
            <a:avLst/>
          </a:prstGeom>
          <a:noFill/>
        </p:spPr>
        <p:txBody>
          <a:bodyPr wrap="none">
            <a:spAutoFit/>
          </a:bodyPr>
          <a:lstStyle/>
          <a:p>
            <a:pPr>
              <a:defRPr sz="1250">
                <a:solidFill>
                  <a:srgbClr val="2A313A"/>
                </a:solidFill>
              </a:defRPr>
            </a:pPr>
            <a:r>
              <a:t>Net revenue</a:t>
            </a:r>
            <a:br/>
            <a:r>
              <a:t>Revenue / encounter</a:t>
            </a:r>
            <a:br/>
            <a:r>
              <a:t>Revenue / bed-day</a:t>
            </a:r>
          </a:p>
        </p:txBody>
      </p:sp>
      <p:sp>
        <p:nvSpPr>
          <p:cNvPr id="9" name="Rounded Rectangle 8"/>
          <p:cNvSpPr/>
          <p:nvPr/>
        </p:nvSpPr>
        <p:spPr>
          <a:xfrm>
            <a:off x="4343400" y="1325880"/>
            <a:ext cx="3383280" cy="1874519"/>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1325880"/>
            <a:ext cx="64008" cy="1874519"/>
          </a:xfrm>
          <a:prstGeom prst="rect">
            <a:avLst/>
          </a:prstGeom>
          <a:solidFill>
            <a:srgbClr val="B8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463039"/>
            <a:ext cx="3108960" cy="384048"/>
          </a:xfrm>
          <a:prstGeom prst="rect">
            <a:avLst/>
          </a:prstGeom>
          <a:noFill/>
        </p:spPr>
        <p:txBody>
          <a:bodyPr wrap="none">
            <a:spAutoFit/>
          </a:bodyPr>
          <a:lstStyle/>
          <a:p>
            <a:pPr>
              <a:defRPr sz="1600" b="1">
                <a:solidFill>
                  <a:srgbClr val="162A4A"/>
                </a:solidFill>
              </a:defRPr>
            </a:pPr>
            <a:r>
              <a:t>Are we collecting?</a:t>
            </a:r>
          </a:p>
        </p:txBody>
      </p:sp>
      <p:sp>
        <p:nvSpPr>
          <p:cNvPr id="12" name="TextBox 11"/>
          <p:cNvSpPr txBox="1"/>
          <p:nvPr/>
        </p:nvSpPr>
        <p:spPr>
          <a:xfrm>
            <a:off x="4526280" y="1938528"/>
            <a:ext cx="3108960" cy="1161287"/>
          </a:xfrm>
          <a:prstGeom prst="rect">
            <a:avLst/>
          </a:prstGeom>
          <a:noFill/>
        </p:spPr>
        <p:txBody>
          <a:bodyPr wrap="none">
            <a:spAutoFit/>
          </a:bodyPr>
          <a:lstStyle/>
          <a:p>
            <a:pPr>
              <a:defRPr sz="1250">
                <a:solidFill>
                  <a:srgbClr val="2A313A"/>
                </a:solidFill>
              </a:defRPr>
            </a:pPr>
            <a:r>
              <a:t>Denial rate</a:t>
            </a:r>
            <a:br/>
            <a:r>
              <a:t>Collection rate</a:t>
            </a:r>
            <a:br/>
            <a:r>
              <a:t>AR days</a:t>
            </a:r>
          </a:p>
        </p:txBody>
      </p:sp>
      <p:sp>
        <p:nvSpPr>
          <p:cNvPr id="13" name="Rounded Rectangle 12"/>
          <p:cNvSpPr/>
          <p:nvPr/>
        </p:nvSpPr>
        <p:spPr>
          <a:xfrm>
            <a:off x="8046719" y="1325880"/>
            <a:ext cx="3383280" cy="1874519"/>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19" y="1325880"/>
            <a:ext cx="64008" cy="1874519"/>
          </a:xfrm>
          <a:prstGeom prst="rect">
            <a:avLst/>
          </a:prstGeom>
          <a:solidFill>
            <a:srgbClr val="D67E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9" y="1463039"/>
            <a:ext cx="3108960" cy="384048"/>
          </a:xfrm>
          <a:prstGeom prst="rect">
            <a:avLst/>
          </a:prstGeom>
          <a:noFill/>
        </p:spPr>
        <p:txBody>
          <a:bodyPr wrap="none">
            <a:spAutoFit/>
          </a:bodyPr>
          <a:lstStyle/>
          <a:p>
            <a:pPr>
              <a:defRPr sz="1600" b="1">
                <a:solidFill>
                  <a:srgbClr val="162A4A"/>
                </a:solidFill>
              </a:defRPr>
            </a:pPr>
            <a:r>
              <a:t>Are we controlling cost?</a:t>
            </a:r>
          </a:p>
        </p:txBody>
      </p:sp>
      <p:sp>
        <p:nvSpPr>
          <p:cNvPr id="16" name="TextBox 15"/>
          <p:cNvSpPr txBox="1"/>
          <p:nvPr/>
        </p:nvSpPr>
        <p:spPr>
          <a:xfrm>
            <a:off x="8229599" y="1938528"/>
            <a:ext cx="3108960" cy="1161287"/>
          </a:xfrm>
          <a:prstGeom prst="rect">
            <a:avLst/>
          </a:prstGeom>
          <a:noFill/>
        </p:spPr>
        <p:txBody>
          <a:bodyPr wrap="none">
            <a:spAutoFit/>
          </a:bodyPr>
          <a:lstStyle/>
          <a:p>
            <a:pPr>
              <a:defRPr sz="1250">
                <a:solidFill>
                  <a:srgbClr val="2A313A"/>
                </a:solidFill>
              </a:defRPr>
            </a:pPr>
            <a:r>
              <a:t>Cost / encounter</a:t>
            </a:r>
            <a:br/>
            <a:r>
              <a:t>Cost / bed-day</a:t>
            </a:r>
            <a:br/>
            <a:r>
              <a:t>Resource utilization</a:t>
            </a:r>
          </a:p>
        </p:txBody>
      </p:sp>
      <p:sp>
        <p:nvSpPr>
          <p:cNvPr id="17" name="Rounded Rectangle 16"/>
          <p:cNvSpPr/>
          <p:nvPr/>
        </p:nvSpPr>
        <p:spPr>
          <a:xfrm>
            <a:off x="640080" y="3611880"/>
            <a:ext cx="3383280" cy="1874519"/>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3611880"/>
            <a:ext cx="64008" cy="1874519"/>
          </a:xfrm>
          <a:prstGeom prst="rect">
            <a:avLst/>
          </a:prstGeom>
          <a:solidFill>
            <a:srgbClr val="2E7D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3749040"/>
            <a:ext cx="3108960" cy="384048"/>
          </a:xfrm>
          <a:prstGeom prst="rect">
            <a:avLst/>
          </a:prstGeom>
          <a:noFill/>
        </p:spPr>
        <p:txBody>
          <a:bodyPr wrap="none">
            <a:spAutoFit/>
          </a:bodyPr>
          <a:lstStyle/>
          <a:p>
            <a:pPr>
              <a:defRPr sz="1600" b="1">
                <a:solidFill>
                  <a:srgbClr val="162A4A"/>
                </a:solidFill>
              </a:defRPr>
            </a:pPr>
            <a:r>
              <a:t>Are we improving care?</a:t>
            </a:r>
          </a:p>
        </p:txBody>
      </p:sp>
      <p:sp>
        <p:nvSpPr>
          <p:cNvPr id="20" name="TextBox 19"/>
          <p:cNvSpPr txBox="1"/>
          <p:nvPr/>
        </p:nvSpPr>
        <p:spPr>
          <a:xfrm>
            <a:off x="822959" y="4224528"/>
            <a:ext cx="3108960" cy="1161287"/>
          </a:xfrm>
          <a:prstGeom prst="rect">
            <a:avLst/>
          </a:prstGeom>
          <a:noFill/>
        </p:spPr>
        <p:txBody>
          <a:bodyPr wrap="none">
            <a:spAutoFit/>
          </a:bodyPr>
          <a:lstStyle/>
          <a:p>
            <a:pPr>
              <a:defRPr sz="1250">
                <a:solidFill>
                  <a:srgbClr val="2A313A"/>
                </a:solidFill>
              </a:defRPr>
            </a:pPr>
            <a:r>
              <a:t>Readmission</a:t>
            </a:r>
            <a:br/>
            <a:r>
              <a:t>LOS</a:t>
            </a:r>
            <a:br/>
            <a:r>
              <a:t>High-utilizer cohort</a:t>
            </a:r>
          </a:p>
        </p:txBody>
      </p:sp>
      <p:sp>
        <p:nvSpPr>
          <p:cNvPr id="21" name="Rounded Rectangle 20"/>
          <p:cNvSpPr/>
          <p:nvPr/>
        </p:nvSpPr>
        <p:spPr>
          <a:xfrm>
            <a:off x="4343400" y="3611880"/>
            <a:ext cx="3383280" cy="1874519"/>
          </a:xfrm>
          <a:prstGeom prst="roundRect">
            <a:avLst/>
          </a:prstGeom>
          <a:solidFill>
            <a:srgbClr val="F4F7FA"/>
          </a:solidFill>
          <a:ln>
            <a:solidFill>
              <a:srgbClr val="E1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43400" y="3611880"/>
            <a:ext cx="64008" cy="1874519"/>
          </a:xfrm>
          <a:prstGeom prst="rect">
            <a:avLst/>
          </a:prstGeom>
          <a:solidFill>
            <a:srgbClr val="1C84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6280" y="3749040"/>
            <a:ext cx="3108960" cy="384048"/>
          </a:xfrm>
          <a:prstGeom prst="rect">
            <a:avLst/>
          </a:prstGeom>
          <a:noFill/>
        </p:spPr>
        <p:txBody>
          <a:bodyPr wrap="none">
            <a:spAutoFit/>
          </a:bodyPr>
          <a:lstStyle/>
          <a:p>
            <a:pPr>
              <a:defRPr sz="1600" b="1">
                <a:solidFill>
                  <a:srgbClr val="162A4A"/>
                </a:solidFill>
              </a:defRPr>
            </a:pPr>
            <a:r>
              <a:t>Where is margin?</a:t>
            </a:r>
          </a:p>
        </p:txBody>
      </p:sp>
      <p:sp>
        <p:nvSpPr>
          <p:cNvPr id="24" name="TextBox 23"/>
          <p:cNvSpPr txBox="1"/>
          <p:nvPr/>
        </p:nvSpPr>
        <p:spPr>
          <a:xfrm>
            <a:off x="4526280" y="4224528"/>
            <a:ext cx="3108960" cy="1161287"/>
          </a:xfrm>
          <a:prstGeom prst="rect">
            <a:avLst/>
          </a:prstGeom>
          <a:noFill/>
        </p:spPr>
        <p:txBody>
          <a:bodyPr wrap="none">
            <a:spAutoFit/>
          </a:bodyPr>
          <a:lstStyle/>
          <a:p>
            <a:pPr>
              <a:defRPr sz="1250">
                <a:solidFill>
                  <a:srgbClr val="2A313A"/>
                </a:solidFill>
              </a:defRPr>
            </a:pPr>
            <a:r>
              <a:t>Service line</a:t>
            </a:r>
            <a:br/>
            <a:r>
              <a:t>Payer</a:t>
            </a:r>
            <a:br/>
            <a:r>
              <a:t>Procedure / DRG</a:t>
            </a:r>
            <a:br/>
            <a:r>
              <a:t>Contribution margin</a:t>
            </a:r>
          </a:p>
        </p:txBody>
      </p:sp>
      <p:sp>
        <p:nvSpPr>
          <p:cNvPr id="25" name="TextBox 24"/>
          <p:cNvSpPr txBox="1"/>
          <p:nvPr/>
        </p:nvSpPr>
        <p:spPr>
          <a:xfrm>
            <a:off x="594360" y="6473952"/>
            <a:ext cx="10972800" cy="182880"/>
          </a:xfrm>
          <a:prstGeom prst="rect">
            <a:avLst/>
          </a:prstGeom>
          <a:noFill/>
        </p:spPr>
        <p:txBody>
          <a:bodyPr wrap="none">
            <a:spAutoFit/>
          </a:bodyPr>
          <a:lstStyle/>
          <a:p>
            <a:pPr>
              <a:defRPr sz="800">
                <a:solidFill>
                  <a:srgbClr val="646E78"/>
                </a:solidFill>
              </a:defRPr>
            </a:pPr>
            <a:r>
              <a:t>Hospital Revenue &amp; Cost Operations | Executive Discussion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10698480" cy="731520"/>
          </a:xfrm>
          <a:prstGeom prst="rect">
            <a:avLst/>
          </a:prstGeom>
          <a:noFill/>
        </p:spPr>
        <p:txBody>
          <a:bodyPr wrap="none">
            <a:spAutoFit/>
          </a:bodyPr>
          <a:lstStyle/>
          <a:p>
            <a:pPr>
              <a:defRPr sz="3100" b="1">
                <a:solidFill>
                  <a:srgbClr val="FFFFFF"/>
                </a:solidFill>
              </a:defRPr>
            </a:pPr>
            <a:r>
              <a:t>Recommended next steps</a:t>
            </a:r>
          </a:p>
        </p:txBody>
      </p:sp>
      <p:sp>
        <p:nvSpPr>
          <p:cNvPr id="4" name="TextBox 3"/>
          <p:cNvSpPr txBox="1"/>
          <p:nvPr/>
        </p:nvSpPr>
        <p:spPr>
          <a:xfrm>
            <a:off x="868680" y="1645920"/>
            <a:ext cx="10332720" cy="3749039"/>
          </a:xfrm>
          <a:prstGeom prst="rect">
            <a:avLst/>
          </a:prstGeom>
          <a:noFill/>
        </p:spPr>
        <p:txBody>
          <a:bodyPr wrap="square">
            <a:spAutoFit/>
          </a:bodyPr>
          <a:lstStyle/>
          <a:p>
            <a:pPr>
              <a:spcAft>
                <a:spcPts val="1800"/>
              </a:spcAft>
              <a:defRPr sz="2100">
                <a:solidFill>
                  <a:srgbClr val="FFFFFF"/>
                </a:solidFill>
              </a:defRPr>
            </a:pPr>
            <a:r>
              <a:t>1. Map clinical, billing, claims and cost data sources</a:t>
            </a:r>
          </a:p>
          <a:p>
            <a:pPr>
              <a:spcAft>
                <a:spcPts val="1800"/>
              </a:spcAft>
              <a:defRPr sz="2100">
                <a:solidFill>
                  <a:srgbClr val="FFFFFF"/>
                </a:solidFill>
              </a:defRPr>
            </a:pPr>
            <a:r>
              <a:t>2. Create an encounter-level Revenue + Cost data model</a:t>
            </a:r>
          </a:p>
          <a:p>
            <a:pPr>
              <a:spcAft>
                <a:spcPts val="1800"/>
              </a:spcAft>
              <a:defRPr sz="2100">
                <a:solidFill>
                  <a:srgbClr val="FFFFFF"/>
                </a:solidFill>
              </a:defRPr>
            </a:pPr>
            <a:r>
              <a:t>3. Baseline LOS, readmission, utilization, denial and collection KPIs</a:t>
            </a:r>
          </a:p>
          <a:p>
            <a:pPr>
              <a:spcAft>
                <a:spcPts val="1800"/>
              </a:spcAft>
              <a:defRPr sz="2100">
                <a:solidFill>
                  <a:srgbClr val="FFFFFF"/>
                </a:solidFill>
              </a:defRPr>
            </a:pPr>
            <a:r>
              <a:t>4. Identify 3–5 priority improvement opportunities</a:t>
            </a:r>
          </a:p>
          <a:p>
            <a:pPr>
              <a:spcAft>
                <a:spcPts val="1800"/>
              </a:spcAft>
              <a:defRPr sz="2100">
                <a:solidFill>
                  <a:srgbClr val="FFFFFF"/>
                </a:solidFill>
              </a:defRPr>
            </a:pPr>
            <a:r>
              <a:t>5. Pilot interventions and measure financial + clinical impact</a:t>
            </a:r>
          </a:p>
        </p:txBody>
      </p:sp>
      <p:sp>
        <p:nvSpPr>
          <p:cNvPr id="5" name="TextBox 4"/>
          <p:cNvSpPr txBox="1"/>
          <p:nvPr/>
        </p:nvSpPr>
        <p:spPr>
          <a:xfrm>
            <a:off x="868680" y="5623560"/>
            <a:ext cx="10241280" cy="502920"/>
          </a:xfrm>
          <a:prstGeom prst="rect">
            <a:avLst/>
          </a:prstGeom>
          <a:noFill/>
        </p:spPr>
        <p:txBody>
          <a:bodyPr wrap="none">
            <a:spAutoFit/>
          </a:bodyPr>
          <a:lstStyle/>
          <a:p>
            <a:pPr>
              <a:defRPr sz="1600" b="1">
                <a:solidFill>
                  <a:srgbClr val="CDE1F0"/>
                </a:solidFill>
              </a:defRPr>
            </a:pPr>
            <a:r>
              <a:t>Outcome: measurable revenue improvement + sustainable operating cost reduction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